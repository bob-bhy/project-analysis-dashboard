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media/image4.svg" ContentType="image/svg+xml"/>
  <Override PartName="/ppt/media/image6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6"/>
  </p:notesMasterIdLst>
  <p:sldIdLst>
    <p:sldId id="263" r:id="rId3"/>
    <p:sldId id="270" r:id="rId4"/>
    <p:sldId id="264" r:id="rId5"/>
    <p:sldId id="257" r:id="rId7"/>
    <p:sldId id="259" r:id="rId8"/>
    <p:sldId id="266" r:id="rId9"/>
    <p:sldId id="258" r:id="rId10"/>
    <p:sldId id="267" r:id="rId11"/>
    <p:sldId id="268" r:id="rId12"/>
    <p:sldId id="269" r:id="rId13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ia Vida Villanueva" initials="MVV" lastIdx="0" clrIdx="0"/>
  <p:cmAuthor id="2" name="1206988966@qq.com" initials="1" lastIdx="0" clrIdx="1"/>
  <p:cmAuthor id="3" name="Jash" initials="J" lastIdx="0" clrIdx="2"/>
  <p:cmAuthor id="4" name="姜伟光" initials="姜" lastIdx="0" clrIdx="3"/>
  <p:cmAuthor id="5" name="作者" initials="A" lastIdx="0" clrIdx="4"/>
  <p:cmAuthor id="6" name="ADMIN" initials="A" lastIdx="0" clrIdx="5"/>
  <p:cmAuthor id="7" name="lenovo" initials="l" lastIdx="0" clrIdx="6"/>
  <p:cmAuthor id="8" name="Administrator" initials="A" lastIdx="0" clrIdx="7"/>
  <p:cmAuthor id="9" name="宋洁然" initials="宋" lastIdx="0" clrIdx="8"/>
  <p:cmAuthor id="10" name="ming qiu" initials="m" lastIdx="0" clrIdx="9"/>
  <p:cmAuthor id="11" name="骆倩怡_Znauj26B" initials="authorId_382814100" lastIdx="0" clrIdx="1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commentAuthors" Target="commentAuthors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首先，我们来看一下1月份的战略目标与回顾。这个月，我们欧洲业务部取得了98.6万美元的销售额，其中BY-VJ贡献了52万美元，这是非常亮眼的成绩。我们梳理了7个5W+大单，新客户贡献了12.5万美元，老客户贡献了83.5万美元，这说明我们的客户基础非常稳固。回顾我们原定的突破路径，大客户梳理、存量客户定级以及F4作战模式的拉通，这些都为我们1月的成功奠定了基础。当然，2万美元的差异和ERP统计规则，我们还需要进一步确认。接下来，我们深入看看这些大单的具体情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F7021451-1387-4CA6-816F-3879F97B5CBC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首先，我们来看一下1月份的战略目标与回顾。这个月，我们欧洲业务部取得了98.6万美元的销售额，其中BY-VJ贡献了52万美元，这是非常亮眼的成绩。我们梳理了7个5W+大单，新客户贡献了12.5万美元，老客户贡献了83.5万美元，这说明我们的客户基础非常稳固。回顾我们原定的突破路径，大客户梳理、存量客户定级以及F4作战模式的拉通，这些都为我们1月的成功奠定了基础。当然，2万美元的差异和ERP统计规则，我们还需要进一步确认。接下来，我们深入看看这些大单的具体情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F7021451-1387-4CA6-816F-3879F97B5CBC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首先，我们来看一下1月份的战略目标与回顾。这个月，我们欧洲业务部取得了98.6万美元的销售额，其中BY-VJ贡献了52万美元，这是非常亮眼的成绩。我们梳理了7个5W+大单，新客户贡献了12.5万美元，老客户贡献了83.5万美元，这说明我们的客户基础非常稳固。回顾我们原定的突破路径，大客户梳理、存量客户定级以及F4作战模式的拉通，这些都为我们1月的成功奠定了基础。当然，2万美元的差异和ERP统计规则，我们还需要进一步确认。接下来，我们深入看看这些大单的具体情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F7021451-1387-4CA6-816F-3879F97B5CBC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首先，我们来看一下1月份的战略目标与回顾。这个月，我们欧洲业务部取得了98.6万美元的销售额，其中BY-VJ贡献了52万美元，这是非常亮眼的成绩。我们梳理了7个5W+大单，新客户贡献了12.5万美元，老客户贡献了83.5万美元，这说明我们的客户基础非常稳固。回顾我们原定的突破路径，大客户梳理、存量客户定级以及F4作战模式的拉通，这些都为我们1月的成功奠定了基础。当然，2万美元的差异和ERP统计规则，我们还需要进一步确认。接下来，我们深入看看这些大单的具体情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F7021451-1387-4CA6-816F-3879F97B5CBC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首先，我们来看一下1月份的战略目标与回顾。这个月，我们欧洲业务部取得了98.6万美元的销售额，其中BY-VJ贡献了52万美元，这是非常亮眼的成绩。我们梳理了7个5W+大单，新客户贡献了12.5万美元，老客户贡献了83.5万美元，这说明我们的客户基础非常稳固。回顾我们原定的突破路径，大客户梳理、存量客户定级以及F4作战模式的拉通，这些都为我们1月的成功奠定了基础。当然，2万美元的差异和ERP统计规则，我们还需要进一步确认。接下来，我们深入看看这些大单的具体情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F7021451-1387-4CA6-816F-3879F97B5CBC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</p:spPr>
        <p:txBody>
          <a:bodyPr/>
          <a:lstStyle/>
          <a:p>
            <a:fld id="{92454239-8BFE-4F6E-B85E-28D39FC6A986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</p:spPr>
        <p:txBody>
          <a:bodyPr/>
          <a:lstStyle/>
          <a:p>
            <a:fld id="{A384E387-AF64-4A0C-9208-5B8C5DCDFFE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143000" y="2701529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</p:spPr>
        <p:txBody>
          <a:bodyPr/>
          <a:lstStyle/>
          <a:p>
            <a:fld id="{92454239-8BFE-4F6E-B85E-28D39FC6A98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</p:spPr>
        <p:txBody>
          <a:bodyPr/>
          <a:lstStyle/>
          <a:p>
            <a:fld id="{A384E387-AF64-4A0C-9208-5B8C5DCDFFE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000">
        <p14:vortex dir="r"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4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tags" Target="../tags/tag4.xml"/><Relationship Id="rId5" Type="http://schemas.openxmlformats.org/officeDocument/2006/relationships/image" Target="../media/image2.png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image" Target="../media/image1.jpeg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image" Target="../media/image6.svg"/><Relationship Id="rId8" Type="http://schemas.openxmlformats.org/officeDocument/2006/relationships/image" Target="../media/image5.png"/><Relationship Id="rId7" Type="http://schemas.openxmlformats.org/officeDocument/2006/relationships/image" Target="../media/image4.svg"/><Relationship Id="rId6" Type="http://schemas.openxmlformats.org/officeDocument/2006/relationships/image" Target="../media/image3.png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0" Type="http://schemas.openxmlformats.org/officeDocument/2006/relationships/slideLayout" Target="../slideLayouts/slideLayout2.xml"/><Relationship Id="rId1" Type="http://schemas.openxmlformats.org/officeDocument/2006/relationships/tags" Target="../tags/tag5.xml"/></Relationships>
</file>

<file path=ppt/slides/_rels/slide3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tags" Target="../tags/tag11.xml"/><Relationship Id="rId3" Type="http://schemas.openxmlformats.org/officeDocument/2006/relationships/image" Target="../media/image8.png"/><Relationship Id="rId2" Type="http://schemas.openxmlformats.org/officeDocument/2006/relationships/tags" Target="../tags/tag10.xml"/><Relationship Id="rId1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7.png"/><Relationship Id="rId1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4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tags" Target="../tags/tag13.xml"/><Relationship Id="rId3" Type="http://schemas.openxmlformats.org/officeDocument/2006/relationships/image" Target="../media/image8.png"/><Relationship Id="rId2" Type="http://schemas.openxmlformats.org/officeDocument/2006/relationships/tags" Target="../tags/tag12.xml"/><Relationship Id="rId1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6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tags" Target="../tags/tag15.xml"/><Relationship Id="rId3" Type="http://schemas.openxmlformats.org/officeDocument/2006/relationships/image" Target="../media/image8.png"/><Relationship Id="rId2" Type="http://schemas.openxmlformats.org/officeDocument/2006/relationships/tags" Target="../tags/tag14.xml"/><Relationship Id="rId1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7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tags" Target="../tags/tag17.xml"/><Relationship Id="rId3" Type="http://schemas.openxmlformats.org/officeDocument/2006/relationships/image" Target="../media/image8.png"/><Relationship Id="rId2" Type="http://schemas.openxmlformats.org/officeDocument/2006/relationships/tags" Target="../tags/tag16.xml"/><Relationship Id="rId1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8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tags" Target="../tags/tag19.xml"/><Relationship Id="rId3" Type="http://schemas.openxmlformats.org/officeDocument/2006/relationships/image" Target="../media/image8.png"/><Relationship Id="rId2" Type="http://schemas.openxmlformats.org/officeDocument/2006/relationships/tags" Target="../tags/tag18.xml"/><Relationship Id="rId1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PPT封面-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239" y="5239"/>
            <a:ext cx="9144000" cy="5143500"/>
          </a:xfrm>
          <a:prstGeom prst="rect">
            <a:avLst/>
          </a:prstGeom>
        </p:spPr>
      </p:pic>
      <p:sp>
        <p:nvSpPr>
          <p:cNvPr id="5" name="灯片编号占位符 17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>
          <a:xfrm>
            <a:off x="6460569" y="4641056"/>
            <a:ext cx="2163604" cy="237649"/>
          </a:xfrm>
        </p:spPr>
        <p:txBody>
          <a:bodyPr/>
          <a:lstStyle>
            <a:lvl1pPr>
              <a:defRPr sz="1200"/>
            </a:lvl1pPr>
          </a:lstStyle>
          <a:p>
            <a:pPr algn="r"/>
            <a:r>
              <a:rPr lang="en-US" sz="900" dirty="0" err="1">
                <a:solidFill>
                  <a:schemeClr val="bg1"/>
                </a:solidFill>
                <a:latin typeface="Arial" panose="020B0604020202020204" pitchFamily="34" charset="0"/>
                <a:ea typeface="Microsoft YaHei UI" panose="020B0503020204020204" pitchFamily="34" charset="-122"/>
                <a:cs typeface="Arial" panose="020B0604020202020204" pitchFamily="34" charset="0"/>
                <a:sym typeface="+mn-ea"/>
              </a:rPr>
              <a:t>HongKong</a:t>
            </a:r>
            <a:r>
              <a:rPr lang="en-US" sz="900" dirty="0">
                <a:solidFill>
                  <a:schemeClr val="bg1"/>
                </a:solidFill>
                <a:latin typeface="Arial" panose="020B0604020202020204" pitchFamily="34" charset="0"/>
                <a:ea typeface="Microsoft YaHei UI" panose="020B0503020204020204" pitchFamily="34" charset="-122"/>
                <a:cs typeface="Arial" panose="020B0604020202020204" pitchFamily="34" charset="0"/>
                <a:sym typeface="+mn-ea"/>
              </a:rPr>
              <a:t> </a:t>
            </a:r>
            <a:r>
              <a:rPr lang="en-US" sz="900" dirty="0" err="1">
                <a:solidFill>
                  <a:schemeClr val="bg1"/>
                </a:solidFill>
                <a:latin typeface="Arial" panose="020B0604020202020204" pitchFamily="34" charset="0"/>
                <a:ea typeface="Microsoft YaHei UI" panose="020B0503020204020204" pitchFamily="34" charset="-122"/>
                <a:cs typeface="Arial" panose="020B0604020202020204" pitchFamily="34" charset="0"/>
                <a:sym typeface="+mn-ea"/>
              </a:rPr>
              <a:t>Yejian</a:t>
            </a:r>
            <a:r>
              <a:rPr lang="en-US" sz="900" dirty="0">
                <a:solidFill>
                  <a:schemeClr val="bg1"/>
                </a:solidFill>
                <a:latin typeface="Arial" panose="020B0604020202020204" pitchFamily="34" charset="0"/>
                <a:ea typeface="Microsoft YaHei UI" panose="020B0503020204020204" pitchFamily="34" charset="-122"/>
                <a:cs typeface="Arial" panose="020B0604020202020204" pitchFamily="34" charset="0"/>
                <a:sym typeface="+mn-ea"/>
              </a:rPr>
              <a:t> Technologies Co., Ltd</a:t>
            </a:r>
            <a:endParaRPr lang="zh-CN" altLang="en-US" sz="900" dirty="0"/>
          </a:p>
        </p:txBody>
      </p:sp>
      <p:pic>
        <p:nvPicPr>
          <p:cNvPr id="8" name="图片 7" descr="LOGO_水印-横版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6791564" y="318611"/>
            <a:ext cx="2122170" cy="653415"/>
          </a:xfrm>
          <a:prstGeom prst="rect">
            <a:avLst/>
          </a:prstGeom>
        </p:spPr>
      </p:pic>
      <p:sp>
        <p:nvSpPr>
          <p:cNvPr id="3" name="文本框 2" descr="7b0a2020202022776f7264617274223a20227b5c2269645c223a32353030333935302c5c227469645c223a5c225c227d220a7d0a"/>
          <p:cNvSpPr txBox="1"/>
          <p:nvPr>
            <p:custDataLst>
              <p:tags r:id="rId6"/>
            </p:custDataLst>
          </p:nvPr>
        </p:nvSpPr>
        <p:spPr>
          <a:xfrm>
            <a:off x="4005818" y="1442085"/>
            <a:ext cx="4905375" cy="130873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r"/>
            <a:r>
              <a:rPr lang="en-US" altLang="zh-CN" sz="3000" b="1" spc="122" dirty="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XX</a:t>
            </a:r>
            <a:r>
              <a:rPr lang="zh-CN" sz="3000" b="1" spc="122" dirty="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客户项目分析会模版</a:t>
            </a:r>
            <a:endParaRPr lang="zh-CN" altLang="en-US" sz="3000" b="1" spc="122" dirty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  <a:sym typeface="+mn-ea"/>
            </a:endParaRPr>
          </a:p>
          <a:p>
            <a:pPr algn="r"/>
            <a:r>
              <a:rPr lang="en-US" altLang="zh-CN" sz="3000" b="1" spc="122" dirty="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——</a:t>
            </a:r>
            <a:r>
              <a:rPr lang="zh-CN" altLang="en-US" sz="3000" b="1" spc="122" dirty="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欧洲业务部</a:t>
            </a:r>
            <a:endParaRPr lang="zh-CN" altLang="en-US" sz="3000" b="1" spc="122" dirty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7" name="组合 6"/>
          <p:cNvGrpSpPr/>
          <p:nvPr/>
        </p:nvGrpSpPr>
        <p:grpSpPr>
          <a:xfrm>
            <a:off x="3719195" y="1198880"/>
            <a:ext cx="6719570" cy="2553335"/>
            <a:chOff x="1917" y="797"/>
            <a:chExt cx="10582" cy="4021"/>
          </a:xfrm>
        </p:grpSpPr>
        <p:sp>
          <p:nvSpPr>
            <p:cNvPr id="2" name="文本框 1"/>
            <p:cNvSpPr txBox="1"/>
            <p:nvPr>
              <p:custDataLst>
                <p:tags r:id="rId1"/>
              </p:custDataLst>
            </p:nvPr>
          </p:nvSpPr>
          <p:spPr>
            <a:xfrm>
              <a:off x="1917" y="797"/>
              <a:ext cx="9019" cy="4021"/>
            </a:xfrm>
            <a:prstGeom prst="rect">
              <a:avLst/>
            </a:prstGeom>
            <a:noFill/>
          </p:spPr>
          <p:txBody>
            <a:bodyPr wrap="square" rtlCol="0" anchor="t" anchorCtr="0">
              <a:spAutoFit/>
            </a:bodyPr>
            <a:lstStyle/>
            <a:p>
              <a:pPr algn="l"/>
              <a:r>
                <a:rPr lang="zh-CN" sz="1600" b="1" dirty="0" smtClean="0">
                  <a:gradFill>
                    <a:gsLst>
                      <a:gs pos="50000">
                        <a:schemeClr val="tx1"/>
                      </a:gs>
                      <a:gs pos="0">
                        <a:schemeClr val="tx1">
                          <a:lumMod val="25000"/>
                          <a:lumOff val="75000"/>
                        </a:schemeClr>
                      </a:gs>
                      <a:gs pos="100000">
                        <a:schemeClr val="tx1">
                          <a:lumMod val="85000"/>
                        </a:schemeClr>
                      </a:gs>
                    </a:gsLst>
                    <a:lin ang="5400000" scaled="1"/>
                  </a:gra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一、</a:t>
              </a:r>
              <a:r>
                <a:rPr lang="zh-CN" altLang="en-US" sz="1600" b="1" dirty="0" smtClean="0">
                  <a:gradFill>
                    <a:gsLst>
                      <a:gs pos="50000">
                        <a:schemeClr val="tx1"/>
                      </a:gs>
                      <a:gs pos="0">
                        <a:schemeClr val="tx1">
                          <a:lumMod val="25000"/>
                          <a:lumOff val="75000"/>
                        </a:schemeClr>
                      </a:gs>
                      <a:gs pos="100000">
                        <a:schemeClr val="tx1">
                          <a:lumMod val="85000"/>
                        </a:schemeClr>
                      </a:gs>
                    </a:gsLst>
                    <a:lin ang="5400000" scaled="1"/>
                  </a:gra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客户背景介绍</a:t>
              </a:r>
              <a:endParaRPr lang="zh-CN" altLang="en-US" sz="1600" b="1" dirty="0" smtClean="0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  <a:p>
              <a:pPr algn="l"/>
              <a:endParaRPr lang="zh-CN" altLang="en-US" sz="1600" b="1" dirty="0" smtClean="0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  <a:p>
              <a:pPr algn="l"/>
              <a:r>
                <a:rPr lang="zh-CN" sz="1600" b="1" dirty="0" smtClean="0">
                  <a:gradFill>
                    <a:gsLst>
                      <a:gs pos="50000">
                        <a:schemeClr val="tx1"/>
                      </a:gs>
                      <a:gs pos="0">
                        <a:schemeClr val="tx1">
                          <a:lumMod val="25000"/>
                          <a:lumOff val="75000"/>
                        </a:schemeClr>
                      </a:gs>
                      <a:gs pos="100000">
                        <a:schemeClr val="tx1">
                          <a:lumMod val="85000"/>
                        </a:schemeClr>
                      </a:gs>
                    </a:gsLst>
                    <a:lin ang="5400000" scaled="1"/>
                  </a:gra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二、</a:t>
              </a:r>
              <a:r>
                <a:rPr lang="zh-CN" altLang="en-US" sz="1600" b="1" dirty="0" smtClean="0">
                  <a:gradFill>
                    <a:gsLst>
                      <a:gs pos="50000">
                        <a:schemeClr val="tx1"/>
                      </a:gs>
                      <a:gs pos="0">
                        <a:schemeClr val="tx1">
                          <a:lumMod val="25000"/>
                          <a:lumOff val="75000"/>
                        </a:schemeClr>
                      </a:gs>
                      <a:gs pos="100000">
                        <a:schemeClr val="tx1">
                          <a:lumMod val="85000"/>
                        </a:schemeClr>
                      </a:gs>
                    </a:gsLst>
                    <a:lin ang="5400000" scaled="1"/>
                  </a:gra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客户背景同我司历史合作情况</a:t>
              </a:r>
              <a:endParaRPr lang="zh-CN" altLang="en-US" sz="1600" b="1" dirty="0" smtClean="0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  <a:p>
              <a:pPr algn="l"/>
              <a:endParaRPr lang="zh-CN" altLang="en-US" sz="1600" b="1" dirty="0" smtClean="0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  <a:p>
              <a:pPr algn="l"/>
              <a:r>
                <a:rPr lang="zh-CN" sz="1600" b="1" dirty="0" smtClean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三、</a:t>
              </a:r>
              <a:r>
                <a:rPr lang="zh-CN" altLang="en-US" sz="1600" b="1" dirty="0" smtClean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项目背景及需求介绍，关键里程碑介绍</a:t>
              </a:r>
              <a:endParaRPr lang="zh-CN" altLang="en-US" sz="1600" b="1" dirty="0" smtClean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  <a:p>
              <a:pPr algn="l"/>
              <a:endParaRPr lang="zh-CN" altLang="en-US" sz="1600" b="1" dirty="0" smtClean="0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  <a:p>
              <a:pPr algn="l"/>
              <a:r>
                <a:rPr lang="zh-CN" sz="1600" b="1" dirty="0" smtClean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四、</a:t>
              </a:r>
              <a:r>
                <a:rPr lang="zh-CN" altLang="en-US" sz="1600" b="1" dirty="0" smtClean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项目进展和客户核心诉求</a:t>
              </a:r>
              <a:endParaRPr lang="zh-CN" altLang="en-US" sz="1600" b="1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  <a:p>
              <a:pPr algn="l"/>
              <a:endParaRPr lang="zh-CN" altLang="en-US" sz="1600" b="1" dirty="0" smtClean="0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  <a:p>
              <a:pPr algn="l"/>
              <a:r>
                <a:rPr lang="zh-CN" sz="1600" b="1" dirty="0" smtClean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五、</a:t>
              </a:r>
              <a:r>
                <a:rPr lang="zh-CN" altLang="en-US" sz="1600" b="1" dirty="0" smtClean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待讨论项</a:t>
              </a:r>
              <a:r>
                <a:rPr lang="en-US" altLang="zh-CN" sz="1600" b="1" dirty="0" smtClean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 &amp; </a:t>
              </a:r>
              <a:r>
                <a:rPr lang="zh-CN" altLang="en-US" sz="1600" b="1" dirty="0" smtClean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行动计划</a:t>
              </a:r>
              <a:r>
                <a:rPr lang="en-US" altLang="zh-CN" sz="1600" b="1" dirty="0" smtClean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&amp;</a:t>
              </a:r>
              <a:r>
                <a:rPr lang="zh-CN" altLang="en-US" sz="1600" b="1" dirty="0" smtClean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责任矩阵</a:t>
              </a:r>
              <a:endParaRPr lang="zh-CN" altLang="en-US" sz="1600" b="1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  <a:p>
              <a:pPr algn="l"/>
              <a:endParaRPr lang="zh-CN" altLang="en-US" sz="1600" b="1" dirty="0" smtClean="0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6" name="文本框 5"/>
            <p:cNvSpPr txBox="1"/>
            <p:nvPr>
              <p:custDataLst>
                <p:tags r:id="rId2"/>
              </p:custDataLst>
            </p:nvPr>
          </p:nvSpPr>
          <p:spPr>
            <a:xfrm>
              <a:off x="1917" y="1602"/>
              <a:ext cx="10582" cy="531"/>
            </a:xfrm>
            <a:prstGeom prst="rect">
              <a:avLst/>
            </a:prstGeom>
            <a:noFill/>
          </p:spPr>
          <p:txBody>
            <a:bodyPr wrap="square" rtlCol="0" anchor="t" anchorCtr="0">
              <a:spAutoFit/>
            </a:bodyPr>
            <a:lstStyle/>
            <a:p>
              <a:pPr algn="l"/>
              <a:endParaRPr lang="zh-CN" altLang="en-US" sz="1600" b="1" dirty="0" smtClean="0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8" name="文本框 7"/>
            <p:cNvSpPr txBox="1"/>
            <p:nvPr>
              <p:custDataLst>
                <p:tags r:id="rId3"/>
              </p:custDataLst>
            </p:nvPr>
          </p:nvSpPr>
          <p:spPr>
            <a:xfrm>
              <a:off x="1917" y="2443"/>
              <a:ext cx="9600" cy="531"/>
            </a:xfrm>
            <a:prstGeom prst="rect">
              <a:avLst/>
            </a:prstGeom>
            <a:noFill/>
          </p:spPr>
          <p:txBody>
            <a:bodyPr wrap="square" rtlCol="0" anchor="t" anchorCtr="0">
              <a:spAutoFit/>
            </a:bodyPr>
            <a:p>
              <a:pPr algn="l"/>
              <a:endParaRPr lang="zh-CN" altLang="en-US" sz="1600" b="1" dirty="0" smtClean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3" name="文本框 2"/>
            <p:cNvSpPr txBox="1"/>
            <p:nvPr>
              <p:custDataLst>
                <p:tags r:id="rId4"/>
              </p:custDataLst>
            </p:nvPr>
          </p:nvSpPr>
          <p:spPr>
            <a:xfrm>
              <a:off x="1917" y="3212"/>
              <a:ext cx="9600" cy="531"/>
            </a:xfrm>
            <a:prstGeom prst="rect">
              <a:avLst/>
            </a:prstGeom>
            <a:noFill/>
          </p:spPr>
          <p:txBody>
            <a:bodyPr wrap="square" rtlCol="0" anchor="t" anchorCtr="0">
              <a:spAutoFit/>
            </a:bodyPr>
            <a:p>
              <a:pPr algn="l"/>
              <a:endParaRPr lang="zh-CN" altLang="en-US" sz="1600" b="1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4" name="文本框 3"/>
            <p:cNvSpPr txBox="1"/>
            <p:nvPr>
              <p:custDataLst>
                <p:tags r:id="rId5"/>
              </p:custDataLst>
            </p:nvPr>
          </p:nvSpPr>
          <p:spPr>
            <a:xfrm>
              <a:off x="1917" y="4063"/>
              <a:ext cx="9600" cy="531"/>
            </a:xfrm>
            <a:prstGeom prst="rect">
              <a:avLst/>
            </a:prstGeom>
            <a:noFill/>
          </p:spPr>
          <p:txBody>
            <a:bodyPr wrap="square" rtlCol="0" anchor="t" anchorCtr="0">
              <a:spAutoFit/>
            </a:bodyPr>
            <a:p>
              <a:pPr algn="l"/>
              <a:endParaRPr lang="zh-CN" altLang="en-US" sz="1600" b="1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</p:grpSp>
      <p:pic>
        <p:nvPicPr>
          <p:cNvPr id="22" name="图片 21" descr="未标题-1-03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447925" y="2461895"/>
            <a:ext cx="1215390" cy="1824990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528320" y="280670"/>
            <a:ext cx="624395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dirty="0">
                <a:latin typeface="Jost Medium" charset="0"/>
                <a:ea typeface="Microsoft YaHei UI" panose="020B0503020204020204" pitchFamily="34" charset="-122"/>
                <a:cs typeface="Jost Medium" charset="0"/>
              </a:rPr>
              <a:t>议题</a:t>
            </a:r>
            <a:endParaRPr lang="zh-CN" altLang="en-US" sz="4800" dirty="0">
              <a:latin typeface="Jost Medium" charset="0"/>
              <a:ea typeface="Microsoft YaHei UI" panose="020B0503020204020204" pitchFamily="34" charset="-122"/>
              <a:cs typeface="Jost Medium" charset="0"/>
            </a:endParaRPr>
          </a:p>
        </p:txBody>
      </p:sp>
      <p:pic>
        <p:nvPicPr>
          <p:cNvPr id="5" name="图片 4" descr="未标题-1-03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6990" y="1734820"/>
            <a:ext cx="2400935" cy="360235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12785" y="4857115"/>
            <a:ext cx="9144000" cy="51435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428625" y="285750"/>
            <a:ext cx="8286750" cy="460772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zh-CN" altLang="en-US" sz="1350"/>
          </a:p>
        </p:txBody>
      </p:sp>
      <p:sp>
        <p:nvSpPr>
          <p:cNvPr id="5" name="Shape 1"/>
          <p:cNvSpPr/>
          <p:nvPr/>
        </p:nvSpPr>
        <p:spPr>
          <a:xfrm>
            <a:off x="428625" y="725092"/>
            <a:ext cx="8286750" cy="21431"/>
          </a:xfrm>
          <a:prstGeom prst="rect">
            <a:avLst/>
          </a:prstGeom>
          <a:solidFill>
            <a:srgbClr val="00A99D"/>
          </a:solidFill>
        </p:spPr>
        <p:txBody>
          <a:bodyPr/>
          <a:lstStyle/>
          <a:p>
            <a:endParaRPr lang="zh-CN" altLang="en-US" sz="1350"/>
          </a:p>
        </p:txBody>
      </p:sp>
      <p:sp>
        <p:nvSpPr>
          <p:cNvPr id="6" name="Text 2"/>
          <p:cNvSpPr/>
          <p:nvPr/>
        </p:nvSpPr>
        <p:spPr>
          <a:xfrm>
            <a:off x="428626" y="285751"/>
            <a:ext cx="1918970" cy="3759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defTabSz="1219200">
              <a:lnSpc>
                <a:spcPts val="2935"/>
              </a:lnSpc>
            </a:pPr>
            <a:r>
              <a:rPr lang="en-US" altLang="zh-CN" sz="2000" b="1" dirty="0" err="1">
                <a:solidFill>
                  <a:srgbClr val="003366"/>
                </a:solidFill>
                <a:latin typeface="Arial" panose="020B0604020202020204" pitchFamily="34" charset="0"/>
              </a:rPr>
              <a:t>1</a:t>
            </a:r>
            <a:r>
              <a:rPr lang="zh-CN" altLang="en-US" sz="2000" b="1" dirty="0" err="1">
                <a:solidFill>
                  <a:srgbClr val="003366"/>
                </a:solidFill>
                <a:latin typeface="Arial" panose="020B0604020202020204" pitchFamily="34" charset="0"/>
              </a:rPr>
              <a:t>：</a:t>
            </a:r>
            <a:r>
              <a:rPr lang="zh-CN" sz="2000" b="1" dirty="0" err="1">
                <a:solidFill>
                  <a:srgbClr val="003366"/>
                </a:solidFill>
                <a:latin typeface="Arial" panose="020B0604020202020204" pitchFamily="34" charset="0"/>
              </a:rPr>
              <a:t>客户背景介绍</a:t>
            </a:r>
            <a:endParaRPr lang="zh-CN" sz="2000" b="1" dirty="0" err="1">
              <a:solidFill>
                <a:srgbClr val="003366"/>
              </a:solidFill>
              <a:latin typeface="Arial" panose="020B0604020202020204" pitchFamily="34" charset="0"/>
            </a:endParaRPr>
          </a:p>
        </p:txBody>
      </p:sp>
      <p:pic>
        <p:nvPicPr>
          <p:cNvPr id="2" name="图片 1" descr="未标题-1-03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-119062" y="3553301"/>
            <a:ext cx="1696879" cy="2548414"/>
          </a:xfrm>
          <a:prstGeom prst="rect">
            <a:avLst/>
          </a:prstGeom>
        </p:spPr>
      </p:pic>
      <p:pic>
        <p:nvPicPr>
          <p:cNvPr id="18" name="图片 17" descr="未标题-1-03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 flipH="1">
            <a:off x="7896701" y="-1265872"/>
            <a:ext cx="2222659" cy="3338513"/>
          </a:xfrm>
          <a:prstGeom prst="rect">
            <a:avLst/>
          </a:prstGeom>
          <a:effectLst>
            <a:softEdge rad="317500"/>
          </a:effectLst>
        </p:spPr>
      </p:pic>
      <p:sp>
        <p:nvSpPr>
          <p:cNvPr id="22" name="文本框 21"/>
          <p:cNvSpPr txBox="1"/>
          <p:nvPr/>
        </p:nvSpPr>
        <p:spPr>
          <a:xfrm>
            <a:off x="577850" y="1055370"/>
            <a:ext cx="911923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1</a:t>
            </a:r>
            <a:r>
              <a:rPr lang="zh-CN" altLang="en-US"/>
              <a:t>：客户基本信息</a:t>
            </a:r>
            <a:r>
              <a:rPr lang="en-US" altLang="zh-CN"/>
              <a:t> </a:t>
            </a:r>
            <a:r>
              <a:rPr lang="zh-CN" altLang="en-US"/>
              <a:t>（行业，规模，营业额，聚焦市场，主要品牌）</a:t>
            </a:r>
            <a:endParaRPr lang="zh-CN" altLang="en-US"/>
          </a:p>
          <a:p>
            <a:endParaRPr lang="zh-CN" altLang="en-US"/>
          </a:p>
          <a:p>
            <a:r>
              <a:rPr lang="en-US" altLang="zh-CN"/>
              <a:t>2</a:t>
            </a:r>
            <a:r>
              <a:rPr lang="zh-CN" altLang="en-US"/>
              <a:t>：对接人员信息及公司决策链梳理</a:t>
            </a:r>
            <a:endParaRPr lang="zh-CN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548640" y="54864"/>
            <a:ext cx="822960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defTabSz="1219200">
              <a:lnSpc>
                <a:spcPts val="2935"/>
              </a:lnSpc>
            </a:pPr>
            <a:r>
              <a:rPr lang="zh-CN" altLang="en-US" sz="2600" b="1" dirty="0" err="1">
                <a:solidFill>
                  <a:srgbClr val="003366"/>
                </a:solidFill>
                <a:latin typeface="Arial" panose="020B0604020202020204" pitchFamily="34" charset="0"/>
                <a:sym typeface="+mn-ea"/>
              </a:rPr>
              <a:t>参考：</a:t>
            </a:r>
            <a:r>
              <a:rPr lang="en-US" altLang="zh-CN" sz="2600" b="1" dirty="0" err="1">
                <a:solidFill>
                  <a:srgbClr val="003366"/>
                </a:solidFill>
                <a:latin typeface="Arial" panose="020B0604020202020204" pitchFamily="34" charset="0"/>
                <a:sym typeface="+mn-ea"/>
              </a:rPr>
              <a:t>1</a:t>
            </a:r>
            <a:r>
              <a:rPr lang="zh-CN" altLang="en-US" sz="2600" b="1" dirty="0" err="1">
                <a:solidFill>
                  <a:srgbClr val="003366"/>
                </a:solidFill>
                <a:latin typeface="Arial" panose="020B0604020202020204" pitchFamily="34" charset="0"/>
                <a:sym typeface="+mn-ea"/>
              </a:rPr>
              <a:t>：</a:t>
            </a:r>
            <a:r>
              <a:rPr lang="zh-CN" sz="2600" b="1" dirty="0" err="1">
                <a:solidFill>
                  <a:srgbClr val="003366"/>
                </a:solidFill>
                <a:latin typeface="Arial" panose="020B0604020202020204" pitchFamily="34" charset="0"/>
                <a:sym typeface="+mn-ea"/>
              </a:rPr>
              <a:t>客户背景介绍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2468880" cy="1371600"/>
          </a:xfrm>
          <a:prstGeom prst="rect">
            <a:avLst/>
          </a:prstGeom>
          <a:solidFill>
            <a:srgbClr val="FFFFFF"/>
          </a:solidFill>
          <a:effectLst>
            <a:outerShdw blurRad="76200" dist="25400" dir="16200000" algn="bl" rotWithShape="0">
              <a:srgbClr val="CBD5E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188720"/>
            <a:ext cx="54864" cy="1371600"/>
          </a:xfrm>
          <a:prstGeom prst="rect">
            <a:avLst/>
          </a:prstGeom>
          <a:solidFill>
            <a:srgbClr val="2B6CB0"/>
          </a:solidFill>
        </p:spPr>
      </p:sp>
      <p:sp>
        <p:nvSpPr>
          <p:cNvPr id="7" name="Shape 5"/>
          <p:cNvSpPr/>
          <p:nvPr/>
        </p:nvSpPr>
        <p:spPr>
          <a:xfrm>
            <a:off x="731520" y="1371600"/>
            <a:ext cx="457200" cy="457200"/>
          </a:xfrm>
          <a:prstGeom prst="ellipse">
            <a:avLst/>
          </a:prstGeom>
          <a:solidFill>
            <a:srgbClr val="2B6CB0"/>
          </a:solidFill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1481328"/>
            <a:ext cx="237744" cy="23774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80160" y="1325880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公司名称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280160" y="1554480"/>
            <a:ext cx="15544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365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AE-HPC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1280160" y="1920240"/>
            <a:ext cx="1554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阿联酋 [AE]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246120" y="1188720"/>
            <a:ext cx="2468880" cy="1371600"/>
          </a:xfrm>
          <a:prstGeom prst="rect">
            <a:avLst/>
          </a:prstGeom>
          <a:solidFill>
            <a:srgbClr val="FFFFFF"/>
          </a:solidFill>
          <a:effectLst>
            <a:outerShdw blurRad="76200" dist="25400" dir="16200000" algn="bl" rotWithShape="0">
              <a:srgbClr val="CBD5E0">
                <a:alpha val="3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246120" y="1188720"/>
            <a:ext cx="54864" cy="1371600"/>
          </a:xfrm>
          <a:prstGeom prst="rect">
            <a:avLst/>
          </a:prstGeom>
          <a:solidFill>
            <a:srgbClr val="2B6CB0"/>
          </a:solidFill>
        </p:spPr>
      </p:sp>
      <p:sp>
        <p:nvSpPr>
          <p:cNvPr id="14" name="Shape 11"/>
          <p:cNvSpPr/>
          <p:nvPr/>
        </p:nvSpPr>
        <p:spPr>
          <a:xfrm>
            <a:off x="3429000" y="1371600"/>
            <a:ext cx="457200" cy="457200"/>
          </a:xfrm>
          <a:prstGeom prst="ellipse">
            <a:avLst/>
          </a:prstGeom>
          <a:solidFill>
            <a:srgbClr val="2B6CB0"/>
          </a:solidFill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8728" y="1481328"/>
            <a:ext cx="237744" cy="23774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977640" y="1325880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人员规模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3977640" y="1554480"/>
            <a:ext cx="15544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365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21-50人</a:t>
            </a:r>
            <a:endParaRPr lang="en-US" sz="1700" dirty="0"/>
          </a:p>
        </p:txBody>
      </p:sp>
      <p:sp>
        <p:nvSpPr>
          <p:cNvPr id="18" name="Text 14"/>
          <p:cNvSpPr/>
          <p:nvPr/>
        </p:nvSpPr>
        <p:spPr>
          <a:xfrm>
            <a:off x="3977640" y="1920240"/>
            <a:ext cx="1554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中型ICT企业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5943600" y="1188720"/>
            <a:ext cx="2468880" cy="1371600"/>
          </a:xfrm>
          <a:prstGeom prst="rect">
            <a:avLst/>
          </a:prstGeom>
          <a:solidFill>
            <a:srgbClr val="FFFFFF"/>
          </a:solidFill>
          <a:effectLst>
            <a:outerShdw blurRad="76200" dist="25400" dir="16200000" algn="bl" rotWithShape="0">
              <a:srgbClr val="CBD5E0">
                <a:alpha val="3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5943600" y="1188720"/>
            <a:ext cx="54864" cy="1371600"/>
          </a:xfrm>
          <a:prstGeom prst="rect">
            <a:avLst/>
          </a:prstGeom>
          <a:solidFill>
            <a:srgbClr val="2B6CB0"/>
          </a:solidFill>
        </p:spPr>
      </p:sp>
      <p:sp>
        <p:nvSpPr>
          <p:cNvPr id="21" name="Shape 17"/>
          <p:cNvSpPr/>
          <p:nvPr/>
        </p:nvSpPr>
        <p:spPr>
          <a:xfrm>
            <a:off x="6126480" y="1371600"/>
            <a:ext cx="457200" cy="457200"/>
          </a:xfrm>
          <a:prstGeom prst="ellipse">
            <a:avLst/>
          </a:prstGeom>
          <a:solidFill>
            <a:srgbClr val="2B6CB0"/>
          </a:solidFill>
        </p:spPr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6208" y="1481328"/>
            <a:ext cx="237744" cy="237744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675120" y="1325880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对接职位</a:t>
            </a:r>
            <a:endParaRPr lang="en-US" sz="1000" dirty="0"/>
          </a:p>
        </p:txBody>
      </p:sp>
      <p:sp>
        <p:nvSpPr>
          <p:cNvPr id="24" name="Text 19"/>
          <p:cNvSpPr/>
          <p:nvPr/>
        </p:nvSpPr>
        <p:spPr>
          <a:xfrm>
            <a:off x="6675120" y="1554480"/>
            <a:ext cx="15544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365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CEO</a:t>
            </a:r>
            <a:endParaRPr lang="en-US" sz="1700" dirty="0"/>
          </a:p>
        </p:txBody>
      </p:sp>
      <p:sp>
        <p:nvSpPr>
          <p:cNvPr id="25" name="Text 20"/>
          <p:cNvSpPr/>
          <p:nvPr/>
        </p:nvSpPr>
        <p:spPr>
          <a:xfrm>
            <a:off x="6675120" y="1920240"/>
            <a:ext cx="1554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最高决策人直接对接</a:t>
            </a:r>
            <a:endParaRPr lang="en-US" sz="1000" dirty="0"/>
          </a:p>
        </p:txBody>
      </p:sp>
      <p:sp>
        <p:nvSpPr>
          <p:cNvPr id="26" name="Shape 21"/>
          <p:cNvSpPr/>
          <p:nvPr/>
        </p:nvSpPr>
        <p:spPr>
          <a:xfrm>
            <a:off x="548640" y="2788920"/>
            <a:ext cx="2468880" cy="1371600"/>
          </a:xfrm>
          <a:prstGeom prst="rect">
            <a:avLst/>
          </a:prstGeom>
          <a:solidFill>
            <a:srgbClr val="FFFFFF"/>
          </a:solidFill>
          <a:effectLst>
            <a:outerShdw blurRad="76200" dist="25400" dir="16200000" algn="bl" rotWithShape="0">
              <a:srgbClr val="CBD5E0">
                <a:alpha val="30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548640" y="2788920"/>
            <a:ext cx="54864" cy="1371600"/>
          </a:xfrm>
          <a:prstGeom prst="rect">
            <a:avLst/>
          </a:prstGeom>
          <a:solidFill>
            <a:srgbClr val="2B6CB0"/>
          </a:solidFill>
        </p:spPr>
      </p:sp>
      <p:sp>
        <p:nvSpPr>
          <p:cNvPr id="28" name="Shape 23"/>
          <p:cNvSpPr/>
          <p:nvPr/>
        </p:nvSpPr>
        <p:spPr>
          <a:xfrm>
            <a:off x="731520" y="2971800"/>
            <a:ext cx="457200" cy="457200"/>
          </a:xfrm>
          <a:prstGeom prst="ellipse">
            <a:avLst/>
          </a:prstGeom>
          <a:solidFill>
            <a:srgbClr val="2B6CB0"/>
          </a:solidFill>
        </p:spPr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" y="3081528"/>
            <a:ext cx="237744" cy="237744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1280160" y="2926080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聚焦市场</a:t>
            </a:r>
            <a:endParaRPr lang="en-US" sz="1000" dirty="0"/>
          </a:p>
        </p:txBody>
      </p:sp>
      <p:sp>
        <p:nvSpPr>
          <p:cNvPr id="31" name="Text 25"/>
          <p:cNvSpPr/>
          <p:nvPr/>
        </p:nvSpPr>
        <p:spPr>
          <a:xfrm>
            <a:off x="1280160" y="3154680"/>
            <a:ext cx="15544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365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阿联酋</a:t>
            </a:r>
            <a:endParaRPr lang="en-US" sz="1700" dirty="0"/>
          </a:p>
        </p:txBody>
      </p:sp>
      <p:sp>
        <p:nvSpPr>
          <p:cNvPr id="32" name="Text 26"/>
          <p:cNvSpPr/>
          <p:nvPr/>
        </p:nvSpPr>
        <p:spPr>
          <a:xfrm>
            <a:off x="1280160" y="3520440"/>
            <a:ext cx="1554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政府资金数据中心建设</a:t>
            </a:r>
            <a:endParaRPr lang="en-US" sz="1000" dirty="0"/>
          </a:p>
        </p:txBody>
      </p:sp>
      <p:sp>
        <p:nvSpPr>
          <p:cNvPr id="33" name="Shape 27"/>
          <p:cNvSpPr/>
          <p:nvPr/>
        </p:nvSpPr>
        <p:spPr>
          <a:xfrm>
            <a:off x="3246120" y="2788920"/>
            <a:ext cx="2468880" cy="1371600"/>
          </a:xfrm>
          <a:prstGeom prst="rect">
            <a:avLst/>
          </a:prstGeom>
          <a:solidFill>
            <a:srgbClr val="FFFFFF"/>
          </a:solidFill>
          <a:effectLst>
            <a:outerShdw blurRad="76200" dist="25400" dir="16200000" algn="bl" rotWithShape="0">
              <a:srgbClr val="CBD5E0">
                <a:alpha val="30000"/>
              </a:srgbClr>
            </a:outerShdw>
          </a:effectLst>
        </p:spPr>
      </p:sp>
      <p:sp>
        <p:nvSpPr>
          <p:cNvPr id="34" name="Shape 28"/>
          <p:cNvSpPr/>
          <p:nvPr/>
        </p:nvSpPr>
        <p:spPr>
          <a:xfrm>
            <a:off x="3246120" y="2788920"/>
            <a:ext cx="54864" cy="1371600"/>
          </a:xfrm>
          <a:prstGeom prst="rect">
            <a:avLst/>
          </a:prstGeom>
          <a:solidFill>
            <a:srgbClr val="2B6CB0"/>
          </a:solidFill>
        </p:spPr>
      </p:sp>
      <p:sp>
        <p:nvSpPr>
          <p:cNvPr id="35" name="Shape 29"/>
          <p:cNvSpPr/>
          <p:nvPr/>
        </p:nvSpPr>
        <p:spPr>
          <a:xfrm>
            <a:off x="3429000" y="2971800"/>
            <a:ext cx="457200" cy="457200"/>
          </a:xfrm>
          <a:prstGeom prst="ellipse">
            <a:avLst/>
          </a:prstGeom>
          <a:solidFill>
            <a:srgbClr val="2B6CB0"/>
          </a:solidFill>
        </p:spPr>
      </p:sp>
      <p:pic>
        <p:nvPicPr>
          <p:cNvPr id="3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38728" y="3081528"/>
            <a:ext cx="237744" cy="237744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3977640" y="2926080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业务性质</a:t>
            </a:r>
            <a:endParaRPr lang="en-US" sz="1000" dirty="0"/>
          </a:p>
        </p:txBody>
      </p:sp>
      <p:sp>
        <p:nvSpPr>
          <p:cNvPr id="38" name="Text 31"/>
          <p:cNvSpPr/>
          <p:nvPr/>
        </p:nvSpPr>
        <p:spPr>
          <a:xfrm>
            <a:off x="3977640" y="3154680"/>
            <a:ext cx="15544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365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集成商</a:t>
            </a:r>
            <a:endParaRPr lang="en-US" sz="1700" dirty="0"/>
          </a:p>
        </p:txBody>
      </p:sp>
      <p:sp>
        <p:nvSpPr>
          <p:cNvPr id="39" name="Text 32"/>
          <p:cNvSpPr/>
          <p:nvPr/>
        </p:nvSpPr>
        <p:spPr>
          <a:xfrm>
            <a:off x="3977640" y="3520440"/>
            <a:ext cx="1554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系统集成服务商</a:t>
            </a:r>
            <a:endParaRPr lang="en-US" sz="1000" dirty="0"/>
          </a:p>
        </p:txBody>
      </p:sp>
      <p:sp>
        <p:nvSpPr>
          <p:cNvPr id="40" name="Shape 33"/>
          <p:cNvSpPr/>
          <p:nvPr/>
        </p:nvSpPr>
        <p:spPr>
          <a:xfrm>
            <a:off x="5943600" y="2788920"/>
            <a:ext cx="2468880" cy="1371600"/>
          </a:xfrm>
          <a:prstGeom prst="rect">
            <a:avLst/>
          </a:prstGeom>
          <a:solidFill>
            <a:srgbClr val="FFFFFF"/>
          </a:solidFill>
          <a:effectLst>
            <a:outerShdw blurRad="76200" dist="25400" dir="16200000" algn="bl" rotWithShape="0">
              <a:srgbClr val="CBD5E0">
                <a:alpha val="30000"/>
              </a:srgbClr>
            </a:outerShdw>
          </a:effectLst>
        </p:spPr>
      </p:sp>
      <p:sp>
        <p:nvSpPr>
          <p:cNvPr id="41" name="Shape 34"/>
          <p:cNvSpPr/>
          <p:nvPr/>
        </p:nvSpPr>
        <p:spPr>
          <a:xfrm>
            <a:off x="5943600" y="2788920"/>
            <a:ext cx="54864" cy="1371600"/>
          </a:xfrm>
          <a:prstGeom prst="rect">
            <a:avLst/>
          </a:prstGeom>
          <a:solidFill>
            <a:srgbClr val="2B6CB0"/>
          </a:solidFill>
        </p:spPr>
      </p:sp>
      <p:sp>
        <p:nvSpPr>
          <p:cNvPr id="42" name="Shape 35"/>
          <p:cNvSpPr/>
          <p:nvPr/>
        </p:nvSpPr>
        <p:spPr>
          <a:xfrm>
            <a:off x="6126480" y="2971800"/>
            <a:ext cx="457200" cy="457200"/>
          </a:xfrm>
          <a:prstGeom prst="ellipse">
            <a:avLst/>
          </a:prstGeom>
          <a:solidFill>
            <a:srgbClr val="2B6CB0"/>
          </a:solidFill>
        </p:spPr>
      </p:sp>
      <p:pic>
        <p:nvPicPr>
          <p:cNvPr id="43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36208" y="3081528"/>
            <a:ext cx="237744" cy="237744"/>
          </a:xfrm>
          <a:prstGeom prst="rect">
            <a:avLst/>
          </a:prstGeom>
        </p:spPr>
      </p:pic>
      <p:sp>
        <p:nvSpPr>
          <p:cNvPr id="44" name="Text 36"/>
          <p:cNvSpPr/>
          <p:nvPr/>
        </p:nvSpPr>
        <p:spPr>
          <a:xfrm>
            <a:off x="6675120" y="2926080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主营行业</a:t>
            </a:r>
            <a:endParaRPr lang="en-US" sz="1000" dirty="0"/>
          </a:p>
        </p:txBody>
      </p:sp>
      <p:sp>
        <p:nvSpPr>
          <p:cNvPr id="45" name="Text 37"/>
          <p:cNvSpPr/>
          <p:nvPr/>
        </p:nvSpPr>
        <p:spPr>
          <a:xfrm>
            <a:off x="6675120" y="3154680"/>
            <a:ext cx="15544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365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服务器/交换机</a:t>
            </a:r>
            <a:endParaRPr lang="en-US" sz="1700" dirty="0"/>
          </a:p>
        </p:txBody>
      </p:sp>
      <p:sp>
        <p:nvSpPr>
          <p:cNvPr id="46" name="Text 38"/>
          <p:cNvSpPr/>
          <p:nvPr/>
        </p:nvSpPr>
        <p:spPr>
          <a:xfrm>
            <a:off x="6675120" y="3520440"/>
            <a:ext cx="1554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集成解决方案</a:t>
            </a:r>
            <a:endParaRPr lang="en-US" sz="1000" dirty="0"/>
          </a:p>
        </p:txBody>
      </p:sp>
      <p:sp>
        <p:nvSpPr>
          <p:cNvPr id="47" name="Shape 39"/>
          <p:cNvSpPr/>
          <p:nvPr/>
        </p:nvSpPr>
        <p:spPr>
          <a:xfrm>
            <a:off x="548640" y="4160520"/>
            <a:ext cx="8046720" cy="640080"/>
          </a:xfrm>
          <a:prstGeom prst="rect">
            <a:avLst/>
          </a:prstGeom>
          <a:solidFill>
            <a:srgbClr val="EBF8FF"/>
          </a:solidFill>
        </p:spPr>
      </p:sp>
      <p:sp>
        <p:nvSpPr>
          <p:cNvPr id="48" name="Shape 40"/>
          <p:cNvSpPr/>
          <p:nvPr/>
        </p:nvSpPr>
        <p:spPr>
          <a:xfrm>
            <a:off x="548640" y="4160520"/>
            <a:ext cx="54864" cy="640080"/>
          </a:xfrm>
          <a:prstGeom prst="rect">
            <a:avLst/>
          </a:prstGeom>
          <a:solidFill>
            <a:srgbClr val="3182CE"/>
          </a:solidFill>
        </p:spPr>
      </p:sp>
      <p:sp>
        <p:nvSpPr>
          <p:cNvPr id="49" name="Text 41"/>
          <p:cNvSpPr/>
          <p:nvPr/>
        </p:nvSpPr>
        <p:spPr>
          <a:xfrm>
            <a:off x="822960" y="4160520"/>
            <a:ext cx="75895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B6CB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核心特征: </a:t>
            </a:r>
            <a:r>
              <a:rPr lang="en-US" sz="1200" dirty="0">
                <a:solidFill>
                  <a:srgbClr val="2D374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政府资金驱动的数据中心建设项目，客户为阿联酋本地集成商，CEO直接对接，采购决策链短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304165" y="137414"/>
            <a:ext cx="822960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  </a:t>
            </a:r>
            <a:r>
              <a:rPr lang="zh-CN" altLang="en-US" sz="2600" b="1" dirty="0" err="1">
                <a:solidFill>
                  <a:srgbClr val="003366"/>
                </a:solidFill>
                <a:latin typeface="Arial" panose="020B0604020202020204" pitchFamily="34" charset="0"/>
                <a:sym typeface="+mn-ea"/>
              </a:rPr>
              <a:t>参考：</a:t>
            </a:r>
            <a:r>
              <a:rPr lang="en-US" altLang="zh-CN" sz="2600" b="1" dirty="0" err="1">
                <a:solidFill>
                  <a:srgbClr val="003366"/>
                </a:solidFill>
                <a:latin typeface="Arial" panose="020B0604020202020204" pitchFamily="34" charset="0"/>
                <a:sym typeface="+mn-ea"/>
              </a:rPr>
              <a:t>1</a:t>
            </a:r>
            <a:r>
              <a:rPr lang="zh-CN" altLang="en-US" sz="2600" b="1" dirty="0" err="1">
                <a:solidFill>
                  <a:srgbClr val="003366"/>
                </a:solidFill>
                <a:latin typeface="Arial" panose="020B0604020202020204" pitchFamily="34" charset="0"/>
                <a:sym typeface="+mn-ea"/>
              </a:rPr>
              <a:t>：</a:t>
            </a:r>
            <a:r>
              <a:rPr lang="zh-CN" sz="2600" b="1" dirty="0" err="1">
                <a:solidFill>
                  <a:srgbClr val="003366"/>
                </a:solidFill>
                <a:latin typeface="Arial" panose="020B0604020202020204" pitchFamily="34" charset="0"/>
                <a:sym typeface="+mn-ea"/>
              </a:rPr>
              <a:t>客户背景介绍</a:t>
            </a:r>
            <a:endParaRPr lang="en-US" sz="2600" dirty="0"/>
          </a:p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客户关系 &amp; 项目把握度分析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097280"/>
            <a:ext cx="3840480" cy="3474720"/>
          </a:xfrm>
          <a:prstGeom prst="rect">
            <a:avLst/>
          </a:prstGeom>
          <a:solidFill>
            <a:srgbClr val="FFFFFF"/>
          </a:solidFill>
          <a:effectLst>
            <a:outerShdw blurRad="76200" dist="25400" dir="16200000" algn="bl" rotWithShape="0">
              <a:srgbClr val="CBD5E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097280"/>
            <a:ext cx="3840480" cy="457200"/>
          </a:xfrm>
          <a:prstGeom prst="rect">
            <a:avLst/>
          </a:prstGeom>
          <a:solidFill>
            <a:srgbClr val="2B6CB0"/>
          </a:solidFill>
        </p:spPr>
      </p:sp>
      <p:sp>
        <p:nvSpPr>
          <p:cNvPr id="7" name="Text 5"/>
          <p:cNvSpPr/>
          <p:nvPr/>
        </p:nvSpPr>
        <p:spPr>
          <a:xfrm>
            <a:off x="731520" y="1097280"/>
            <a:ext cx="34747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CEO沟通特征</a:t>
            </a:r>
            <a:endParaRPr lang="en-US" sz="14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783080"/>
            <a:ext cx="201168" cy="20116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97280" y="1737360"/>
            <a:ext cx="31089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8A1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直接对接CEO，决策链极短</a:t>
            </a:r>
            <a:endParaRPr lang="en-US" sz="11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286000"/>
            <a:ext cx="201168" cy="20116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097280" y="2240280"/>
            <a:ext cx="31089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8A1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每次询价都是确定需求或高概率项目</a:t>
            </a:r>
            <a:endParaRPr lang="en-US" sz="11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788920"/>
            <a:ext cx="201168" cy="20116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97280" y="2743200"/>
            <a:ext cx="31089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对交期要求高，交期 &gt; 价格</a:t>
            </a:r>
            <a:endParaRPr lang="en-US" sz="110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3291840"/>
            <a:ext cx="201168" cy="20116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097280" y="3246120"/>
            <a:ext cx="31089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希望我们的交期能打败其他bidder</a:t>
            </a:r>
            <a:endParaRPr lang="en-US" sz="110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3794760"/>
            <a:ext cx="201168" cy="201168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097280" y="3749040"/>
            <a:ext cx="31089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采购决策以交期为第一优先级</a:t>
            </a:r>
            <a:endParaRPr lang="en-US" sz="1100" dirty="0"/>
          </a:p>
        </p:txBody>
      </p:sp>
      <p:sp>
        <p:nvSpPr>
          <p:cNvPr id="18" name="Shape 11"/>
          <p:cNvSpPr/>
          <p:nvPr/>
        </p:nvSpPr>
        <p:spPr>
          <a:xfrm>
            <a:off x="4754880" y="1097280"/>
            <a:ext cx="3840480" cy="3474720"/>
          </a:xfrm>
          <a:prstGeom prst="rect">
            <a:avLst/>
          </a:prstGeom>
          <a:solidFill>
            <a:srgbClr val="FFFFFF"/>
          </a:solidFill>
          <a:effectLst>
            <a:outerShdw blurRad="76200" dist="25400" dir="16200000" algn="bl" rotWithShape="0">
              <a:srgbClr val="CBD5E0">
                <a:alpha val="30000"/>
              </a:srgbClr>
            </a:outerShdw>
          </a:effectLst>
        </p:spPr>
      </p:sp>
      <p:sp>
        <p:nvSpPr>
          <p:cNvPr id="19" name="Shape 12"/>
          <p:cNvSpPr/>
          <p:nvPr/>
        </p:nvSpPr>
        <p:spPr>
          <a:xfrm>
            <a:off x="4754880" y="1097280"/>
            <a:ext cx="3840480" cy="457200"/>
          </a:xfrm>
          <a:prstGeom prst="rect">
            <a:avLst/>
          </a:prstGeom>
          <a:solidFill>
            <a:srgbClr val="DD6B20"/>
          </a:solidFill>
        </p:spPr>
      </p:sp>
      <p:sp>
        <p:nvSpPr>
          <p:cNvPr id="20" name="Text 13"/>
          <p:cNvSpPr/>
          <p:nvPr/>
        </p:nvSpPr>
        <p:spPr>
          <a:xfrm>
            <a:off x="4937760" y="1097280"/>
            <a:ext cx="34747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项目把握度分析</a:t>
            </a:r>
            <a:endParaRPr lang="en-US" sz="1400" dirty="0"/>
          </a:p>
        </p:txBody>
      </p:sp>
      <p:sp>
        <p:nvSpPr>
          <p:cNvPr id="21" name="Text 14"/>
          <p:cNvSpPr/>
          <p:nvPr/>
        </p:nvSpPr>
        <p:spPr>
          <a:xfrm>
            <a:off x="5120640" y="1691640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转化把握度</a:t>
            </a:r>
            <a:endParaRPr lang="en-US" sz="1000" dirty="0"/>
          </a:p>
        </p:txBody>
      </p:sp>
      <p:sp>
        <p:nvSpPr>
          <p:cNvPr id="22" name="Shape 15"/>
          <p:cNvSpPr/>
          <p:nvPr/>
        </p:nvSpPr>
        <p:spPr>
          <a:xfrm>
            <a:off x="5120640" y="2011680"/>
            <a:ext cx="3108960" cy="2286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23" name="Shape 16"/>
          <p:cNvSpPr/>
          <p:nvPr/>
        </p:nvSpPr>
        <p:spPr>
          <a:xfrm>
            <a:off x="5120640" y="2011680"/>
            <a:ext cx="2798064" cy="228600"/>
          </a:xfrm>
          <a:prstGeom prst="rect">
            <a:avLst/>
          </a:prstGeom>
          <a:solidFill>
            <a:srgbClr val="38A169"/>
          </a:solidFill>
        </p:spPr>
      </p:sp>
      <p:sp>
        <p:nvSpPr>
          <p:cNvPr id="24" name="Text 17"/>
          <p:cNvSpPr/>
          <p:nvPr/>
        </p:nvSpPr>
        <p:spPr>
          <a:xfrm>
            <a:off x="7315200" y="2011680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90%</a:t>
            </a:r>
            <a:endParaRPr lang="en-US" sz="1000" dirty="0"/>
          </a:p>
        </p:txBody>
      </p:sp>
      <p:sp>
        <p:nvSpPr>
          <p:cNvPr id="25" name="Text 18"/>
          <p:cNvSpPr/>
          <p:nvPr/>
        </p:nvSpPr>
        <p:spPr>
          <a:xfrm>
            <a:off x="5120640" y="2423160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65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关键把握因素:</a:t>
            </a:r>
            <a:endParaRPr lang="en-US" sz="1100" dirty="0"/>
          </a:p>
        </p:txBody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20640" y="2788920"/>
            <a:ext cx="182880" cy="18288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5394960" y="2743200"/>
            <a:ext cx="2743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询价即确定需求，非探价</a:t>
            </a:r>
            <a:endParaRPr lang="en-US" sz="1050" dirty="0"/>
          </a:p>
        </p:txBody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20640" y="3200400"/>
            <a:ext cx="182880" cy="18288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5394960" y="3154680"/>
            <a:ext cx="2743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CEO直接决策，无多层审批</a:t>
            </a:r>
            <a:endParaRPr lang="en-US" sz="1050" dirty="0"/>
          </a:p>
        </p:txBody>
      </p:sp>
      <p:pic>
        <p:nvPicPr>
          <p:cNvPr id="30" name="Image 7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20640" y="3611880"/>
            <a:ext cx="182880" cy="182880"/>
          </a:xfrm>
          <a:prstGeom prst="rect">
            <a:avLst/>
          </a:prstGeom>
        </p:spPr>
      </p:pic>
      <p:sp>
        <p:nvSpPr>
          <p:cNvPr id="31" name="Text 21"/>
          <p:cNvSpPr/>
          <p:nvPr/>
        </p:nvSpPr>
        <p:spPr>
          <a:xfrm>
            <a:off x="5394960" y="3566160"/>
            <a:ext cx="2743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政府项目资金有保障</a:t>
            </a:r>
            <a:endParaRPr lang="en-US" sz="1050" dirty="0"/>
          </a:p>
        </p:txBody>
      </p:sp>
      <p:pic>
        <p:nvPicPr>
          <p:cNvPr id="32" name="Image 8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20640" y="4023360"/>
            <a:ext cx="182880" cy="182880"/>
          </a:xfrm>
          <a:prstGeom prst="rect">
            <a:avLst/>
          </a:prstGeom>
        </p:spPr>
      </p:pic>
      <p:sp>
        <p:nvSpPr>
          <p:cNvPr id="33" name="Text 22"/>
          <p:cNvSpPr/>
          <p:nvPr/>
        </p:nvSpPr>
        <p:spPr>
          <a:xfrm>
            <a:off x="5394960" y="3977640"/>
            <a:ext cx="2743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持续复购验证了合作关系</a:t>
            </a:r>
            <a:endParaRPr lang="en-US" sz="1050" dirty="0"/>
          </a:p>
        </p:txBody>
      </p:sp>
      <p:sp>
        <p:nvSpPr>
          <p:cNvPr id="34" name="Shape 23"/>
          <p:cNvSpPr/>
          <p:nvPr/>
        </p:nvSpPr>
        <p:spPr>
          <a:xfrm>
            <a:off x="548640" y="4617720"/>
            <a:ext cx="8046720" cy="457200"/>
          </a:xfrm>
          <a:prstGeom prst="rect">
            <a:avLst/>
          </a:prstGeom>
          <a:solidFill>
            <a:srgbClr val="FFF5F5"/>
          </a:solidFill>
        </p:spPr>
      </p:sp>
      <p:sp>
        <p:nvSpPr>
          <p:cNvPr id="35" name="Shape 24"/>
          <p:cNvSpPr/>
          <p:nvPr/>
        </p:nvSpPr>
        <p:spPr>
          <a:xfrm>
            <a:off x="548640" y="4617720"/>
            <a:ext cx="54864" cy="457200"/>
          </a:xfrm>
          <a:prstGeom prst="rect">
            <a:avLst/>
          </a:prstGeom>
          <a:solidFill>
            <a:srgbClr val="E53E3E"/>
          </a:solidFill>
        </p:spPr>
      </p:sp>
      <p:sp>
        <p:nvSpPr>
          <p:cNvPr id="36" name="Text 25"/>
          <p:cNvSpPr/>
          <p:nvPr/>
        </p:nvSpPr>
        <p:spPr>
          <a:xfrm>
            <a:off x="822960" y="4617720"/>
            <a:ext cx="75895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53E3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核心竞争要素: </a:t>
            </a:r>
            <a:r>
              <a:rPr lang="en-US" sz="1100" dirty="0">
                <a:solidFill>
                  <a:srgbClr val="2D374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交期是决定性因素，价格敏感度相对较低。我们的交期能力直接决定是否能在竞标中胜出。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12785" y="4857115"/>
            <a:ext cx="9144000" cy="51435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428625" y="285750"/>
            <a:ext cx="8286750" cy="460772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zh-CN" altLang="en-US" sz="1350"/>
          </a:p>
        </p:txBody>
      </p:sp>
      <p:sp>
        <p:nvSpPr>
          <p:cNvPr id="5" name="Shape 1"/>
          <p:cNvSpPr/>
          <p:nvPr/>
        </p:nvSpPr>
        <p:spPr>
          <a:xfrm>
            <a:off x="428625" y="725092"/>
            <a:ext cx="8286750" cy="21431"/>
          </a:xfrm>
          <a:prstGeom prst="rect">
            <a:avLst/>
          </a:prstGeom>
          <a:solidFill>
            <a:srgbClr val="00A99D"/>
          </a:solidFill>
        </p:spPr>
        <p:txBody>
          <a:bodyPr/>
          <a:lstStyle/>
          <a:p>
            <a:endParaRPr lang="zh-CN" altLang="en-US" sz="1350"/>
          </a:p>
        </p:txBody>
      </p:sp>
      <p:sp>
        <p:nvSpPr>
          <p:cNvPr id="6" name="Text 2"/>
          <p:cNvSpPr/>
          <p:nvPr/>
        </p:nvSpPr>
        <p:spPr>
          <a:xfrm>
            <a:off x="428626" y="285751"/>
            <a:ext cx="3696970" cy="3759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defTabSz="1219200">
              <a:lnSpc>
                <a:spcPts val="2935"/>
              </a:lnSpc>
            </a:pPr>
            <a:r>
              <a:rPr lang="en-US" altLang="zh-CN" sz="2000" b="1" dirty="0" err="1">
                <a:solidFill>
                  <a:srgbClr val="003366"/>
                </a:solidFill>
                <a:latin typeface="Arial" panose="020B0604020202020204" pitchFamily="34" charset="0"/>
              </a:rPr>
              <a:t>2</a:t>
            </a:r>
            <a:r>
              <a:rPr lang="zh-CN" altLang="en-US" sz="2000" b="1" dirty="0" err="1">
                <a:solidFill>
                  <a:srgbClr val="003366"/>
                </a:solidFill>
                <a:latin typeface="Arial" panose="020B0604020202020204" pitchFamily="34" charset="0"/>
              </a:rPr>
              <a:t>：</a:t>
            </a:r>
            <a:r>
              <a:rPr lang="zh-CN" sz="2000" b="1" dirty="0" err="1">
                <a:solidFill>
                  <a:srgbClr val="003366"/>
                </a:solidFill>
                <a:latin typeface="Arial" panose="020B0604020202020204" pitchFamily="34" charset="0"/>
              </a:rPr>
              <a:t>客户背景同我司历史合作情况</a:t>
            </a:r>
            <a:endParaRPr lang="zh-CN" sz="2000" b="1" dirty="0" err="1">
              <a:solidFill>
                <a:srgbClr val="003366"/>
              </a:solidFill>
              <a:latin typeface="Arial" panose="020B0604020202020204" pitchFamily="34" charset="0"/>
            </a:endParaRPr>
          </a:p>
        </p:txBody>
      </p:sp>
      <p:pic>
        <p:nvPicPr>
          <p:cNvPr id="2" name="图片 1" descr="未标题-1-03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-119062" y="3553301"/>
            <a:ext cx="1696879" cy="2548414"/>
          </a:xfrm>
          <a:prstGeom prst="rect">
            <a:avLst/>
          </a:prstGeom>
        </p:spPr>
      </p:pic>
      <p:pic>
        <p:nvPicPr>
          <p:cNvPr id="18" name="图片 17" descr="未标题-1-03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 flipH="1">
            <a:off x="7896701" y="-1265872"/>
            <a:ext cx="2222659" cy="3338513"/>
          </a:xfrm>
          <a:prstGeom prst="rect">
            <a:avLst/>
          </a:prstGeom>
          <a:effectLst>
            <a:softEdge rad="317500"/>
          </a:effectLst>
        </p:spPr>
      </p:pic>
      <p:sp>
        <p:nvSpPr>
          <p:cNvPr id="22" name="文本框 21"/>
          <p:cNvSpPr txBox="1"/>
          <p:nvPr/>
        </p:nvSpPr>
        <p:spPr>
          <a:xfrm>
            <a:off x="577850" y="1055370"/>
            <a:ext cx="911923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1</a:t>
            </a:r>
            <a:r>
              <a:rPr lang="zh-CN" altLang="en-US"/>
              <a:t>：</a:t>
            </a:r>
            <a:r>
              <a:rPr lang="zh-CN"/>
              <a:t>客户建档时间，历史成交情况，客户特点分析。</a:t>
            </a:r>
            <a:endParaRPr lang="zh-CN"/>
          </a:p>
          <a:p>
            <a:r>
              <a:rPr lang="en-US" altLang="zh-CN"/>
              <a:t>2</a:t>
            </a:r>
            <a:r>
              <a:rPr lang="zh-CN" altLang="en-US"/>
              <a:t>：客户成交品牌及过往项目梳理出的客户画像（具象化，不要主观）</a:t>
            </a:r>
            <a:endParaRPr lang="zh-CN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D6B20"/>
          </a:solidFill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822960"/>
          </a:xfrm>
          <a:prstGeom prst="rect">
            <a:avLst/>
          </a:prstGeom>
          <a:solidFill>
            <a:srgbClr val="1A365D"/>
          </a:solidFill>
        </p:spPr>
      </p:sp>
      <p:sp>
        <p:nvSpPr>
          <p:cNvPr id="4" name="Text 2"/>
          <p:cNvSpPr/>
          <p:nvPr/>
        </p:nvSpPr>
        <p:spPr>
          <a:xfrm>
            <a:off x="548640" y="54864"/>
            <a:ext cx="822960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2600" b="1" dirty="0">
                <a:solidFill>
                  <a:srgbClr val="FFFFFF"/>
                </a:solidFill>
                <a:latin typeface="Georgia" panose="02040502050405020303" pitchFamily="34" charset="0"/>
                <a:ea typeface="宋体" panose="02010600030101010101" pitchFamily="2" charset="-122"/>
                <a:cs typeface="Georgia" panose="02040502050405020303" pitchFamily="34" charset="-120"/>
              </a:rPr>
              <a:t>参考：</a:t>
            </a:r>
            <a:r>
              <a:rPr lang="en-US" sz="26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2  我司成交情况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143000"/>
            <a:ext cx="1920240" cy="1188720"/>
          </a:xfrm>
          <a:prstGeom prst="rect">
            <a:avLst/>
          </a:prstGeom>
          <a:solidFill>
            <a:srgbClr val="FFFFFF"/>
          </a:solidFill>
          <a:effectLst>
            <a:outerShdw blurRad="76200" dist="25400" dir="16200000" algn="bl" rotWithShape="0">
              <a:srgbClr val="CBD5E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143000"/>
            <a:ext cx="1920240" cy="54864"/>
          </a:xfrm>
          <a:prstGeom prst="rect">
            <a:avLst/>
          </a:prstGeom>
          <a:solidFill>
            <a:srgbClr val="2B6CB0"/>
          </a:solidFill>
        </p:spPr>
      </p:sp>
      <p:sp>
        <p:nvSpPr>
          <p:cNvPr id="7" name="Text 5"/>
          <p:cNvSpPr/>
          <p:nvPr/>
        </p:nvSpPr>
        <p:spPr>
          <a:xfrm>
            <a:off x="548640" y="1280160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2025年订单金额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1554480"/>
            <a:ext cx="19202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2B6CB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$186K+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2697480" y="1143000"/>
            <a:ext cx="1920240" cy="1188720"/>
          </a:xfrm>
          <a:prstGeom prst="rect">
            <a:avLst/>
          </a:prstGeom>
          <a:solidFill>
            <a:srgbClr val="FFFFFF"/>
          </a:solidFill>
          <a:effectLst>
            <a:outerShdw blurRad="76200" dist="25400" dir="16200000" algn="bl" rotWithShape="0">
              <a:srgbClr val="CBD5E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697480" y="1143000"/>
            <a:ext cx="1920240" cy="54864"/>
          </a:xfrm>
          <a:prstGeom prst="rect">
            <a:avLst/>
          </a:prstGeom>
          <a:solidFill>
            <a:srgbClr val="38A169"/>
          </a:solidFill>
        </p:spPr>
      </p:sp>
      <p:sp>
        <p:nvSpPr>
          <p:cNvPr id="11" name="Text 9"/>
          <p:cNvSpPr/>
          <p:nvPr/>
        </p:nvSpPr>
        <p:spPr>
          <a:xfrm>
            <a:off x="2697480" y="1280160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交换机转化率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697480" y="1554480"/>
            <a:ext cx="19202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38A16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90%</a:t>
            </a:r>
            <a:endParaRPr lang="en-US" sz="3200" dirty="0"/>
          </a:p>
        </p:txBody>
      </p:sp>
      <p:sp>
        <p:nvSpPr>
          <p:cNvPr id="13" name="Shape 11"/>
          <p:cNvSpPr/>
          <p:nvPr/>
        </p:nvSpPr>
        <p:spPr>
          <a:xfrm>
            <a:off x="4846320" y="1143000"/>
            <a:ext cx="1920240" cy="1188720"/>
          </a:xfrm>
          <a:prstGeom prst="rect">
            <a:avLst/>
          </a:prstGeom>
          <a:solidFill>
            <a:srgbClr val="FFFFFF"/>
          </a:solidFill>
          <a:effectLst>
            <a:outerShdw blurRad="76200" dist="25400" dir="16200000" algn="bl" rotWithShape="0">
              <a:srgbClr val="CBD5E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846320" y="1143000"/>
            <a:ext cx="1920240" cy="54864"/>
          </a:xfrm>
          <a:prstGeom prst="rect">
            <a:avLst/>
          </a:prstGeom>
          <a:solidFill>
            <a:srgbClr val="D69E2E"/>
          </a:solidFill>
        </p:spPr>
      </p:sp>
      <p:sp>
        <p:nvSpPr>
          <p:cNvPr id="15" name="Text 13"/>
          <p:cNvSpPr/>
          <p:nvPr/>
        </p:nvSpPr>
        <p:spPr>
          <a:xfrm>
            <a:off x="4846320" y="1280160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模块转化率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846320" y="1554480"/>
            <a:ext cx="19202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D69E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50%</a:t>
            </a:r>
            <a:endParaRPr lang="en-US" sz="3200" dirty="0"/>
          </a:p>
        </p:txBody>
      </p:sp>
      <p:sp>
        <p:nvSpPr>
          <p:cNvPr id="17" name="Shape 15"/>
          <p:cNvSpPr/>
          <p:nvPr/>
        </p:nvSpPr>
        <p:spPr>
          <a:xfrm>
            <a:off x="6995160" y="1143000"/>
            <a:ext cx="1920240" cy="1188720"/>
          </a:xfrm>
          <a:prstGeom prst="rect">
            <a:avLst/>
          </a:prstGeom>
          <a:solidFill>
            <a:srgbClr val="FFFFFF"/>
          </a:solidFill>
          <a:effectLst>
            <a:outerShdw blurRad="76200" dist="25400" dir="16200000" algn="bl" rotWithShape="0">
              <a:srgbClr val="CBD5E0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995160" y="1143000"/>
            <a:ext cx="1920240" cy="54864"/>
          </a:xfrm>
          <a:prstGeom prst="rect">
            <a:avLst/>
          </a:prstGeom>
          <a:solidFill>
            <a:srgbClr val="DD6B20"/>
          </a:solidFill>
        </p:spPr>
      </p:sp>
      <p:sp>
        <p:nvSpPr>
          <p:cNvPr id="19" name="Text 17"/>
          <p:cNvSpPr/>
          <p:nvPr/>
        </p:nvSpPr>
        <p:spPr>
          <a:xfrm>
            <a:off x="6995160" y="1280160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当前商机金额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995160" y="1554480"/>
            <a:ext cx="19202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DD6B2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$50K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548640" y="256032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365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成交</a:t>
            </a:r>
            <a:r>
              <a:rPr lang="en-US" altLang="zh-CN" sz="1400" b="1" dirty="0">
                <a:solidFill>
                  <a:srgbClr val="1A365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N9K-C9336C-FX2  </a:t>
            </a:r>
            <a:r>
              <a:rPr lang="en-US" sz="1400" b="1" dirty="0">
                <a:solidFill>
                  <a:srgbClr val="1A365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历程明细</a:t>
            </a:r>
            <a:endParaRPr lang="en-US" sz="14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/>
        </p:nvGraphicFramePr>
        <p:xfrm>
          <a:off x="548640" y="2880360"/>
          <a:ext cx="804672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371600"/>
                <a:gridCol w="914400"/>
                <a:gridCol w="1371600"/>
                <a:gridCol w="914400"/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订单编号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日期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数量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金额(USD)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状态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AE-HPC-260127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F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2026/01/27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F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3台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F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$23,535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F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待履行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F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AE-HPC-251218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2025/12/19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2台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$16,600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已开票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AE-HPC-251113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2025/11/13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6台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$33,324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已开票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AE-HPC-250606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2025/06/12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2台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$11,992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已开票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合计 (4笔)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2025-2026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13台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$85,451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</a:tr>
            </a:tbl>
          </a:graphicData>
        </a:graphic>
      </p:graphicFrame>
      <p:sp>
        <p:nvSpPr>
          <p:cNvPr id="23" name="Shape 20"/>
          <p:cNvSpPr/>
          <p:nvPr/>
        </p:nvSpPr>
        <p:spPr>
          <a:xfrm>
            <a:off x="548640" y="4389120"/>
            <a:ext cx="8046720" cy="502920"/>
          </a:xfrm>
          <a:prstGeom prst="rect">
            <a:avLst/>
          </a:prstGeom>
          <a:solidFill>
            <a:srgbClr val="FFFBEB"/>
          </a:solidFill>
        </p:spPr>
      </p:sp>
      <p:sp>
        <p:nvSpPr>
          <p:cNvPr id="24" name="Shape 21"/>
          <p:cNvSpPr/>
          <p:nvPr/>
        </p:nvSpPr>
        <p:spPr>
          <a:xfrm>
            <a:off x="548640" y="4389120"/>
            <a:ext cx="54864" cy="502920"/>
          </a:xfrm>
          <a:prstGeom prst="rect">
            <a:avLst/>
          </a:prstGeom>
          <a:solidFill>
            <a:srgbClr val="D69E2E"/>
          </a:solidFill>
        </p:spPr>
      </p:sp>
      <p:sp>
        <p:nvSpPr>
          <p:cNvPr id="25" name="Text 22"/>
          <p:cNvSpPr/>
          <p:nvPr/>
        </p:nvSpPr>
        <p:spPr>
          <a:xfrm>
            <a:off x="822960" y="4389120"/>
            <a:ext cx="75895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D6B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品牌集中度: </a:t>
            </a:r>
            <a:r>
              <a:rPr lang="en-US" sz="1100" dirty="0">
                <a:solidFill>
                  <a:srgbClr val="2D374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集中在Cisco N9K交换机系列 | 当前商机: </a:t>
            </a:r>
            <a:r>
              <a:rPr lang="en-US" altLang="zh-CN" sz="1100" dirty="0">
                <a:solidFill>
                  <a:srgbClr val="2D374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N9K-C9336C-FX2  </a:t>
            </a:r>
            <a:r>
              <a:rPr lang="en-US" sz="1100" dirty="0">
                <a:solidFill>
                  <a:srgbClr val="2D374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$30K + 模块 $20K = $50K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12785" y="4857115"/>
            <a:ext cx="9144000" cy="51435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428625" y="285750"/>
            <a:ext cx="8286750" cy="460772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zh-CN" altLang="en-US" sz="1350"/>
          </a:p>
        </p:txBody>
      </p:sp>
      <p:sp>
        <p:nvSpPr>
          <p:cNvPr id="5" name="Shape 1"/>
          <p:cNvSpPr/>
          <p:nvPr/>
        </p:nvSpPr>
        <p:spPr>
          <a:xfrm>
            <a:off x="428625" y="725092"/>
            <a:ext cx="8286750" cy="21431"/>
          </a:xfrm>
          <a:prstGeom prst="rect">
            <a:avLst/>
          </a:prstGeom>
          <a:solidFill>
            <a:srgbClr val="00A99D"/>
          </a:solidFill>
        </p:spPr>
        <p:txBody>
          <a:bodyPr/>
          <a:lstStyle/>
          <a:p>
            <a:endParaRPr lang="zh-CN" altLang="en-US" sz="1350"/>
          </a:p>
        </p:txBody>
      </p:sp>
      <p:sp>
        <p:nvSpPr>
          <p:cNvPr id="6" name="Text 2"/>
          <p:cNvSpPr/>
          <p:nvPr/>
        </p:nvSpPr>
        <p:spPr>
          <a:xfrm>
            <a:off x="428625" y="285750"/>
            <a:ext cx="5344160" cy="75247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l" defTabSz="1219200">
              <a:lnSpc>
                <a:spcPts val="2935"/>
              </a:lnSpc>
            </a:pPr>
            <a:r>
              <a:rPr lang="en-US" altLang="zh-CN" sz="2000" b="1" dirty="0" err="1">
                <a:solidFill>
                  <a:srgbClr val="003366"/>
                </a:solidFill>
                <a:latin typeface="Arial" panose="020B0604020202020204" pitchFamily="34" charset="0"/>
              </a:rPr>
              <a:t>3</a:t>
            </a:r>
            <a:r>
              <a:rPr lang="zh-CN" altLang="en-US" sz="2000" b="1" dirty="0" err="1">
                <a:solidFill>
                  <a:srgbClr val="003366"/>
                </a:solidFill>
                <a:latin typeface="Arial" panose="020B0604020202020204" pitchFamily="34" charset="0"/>
              </a:rPr>
              <a:t>：</a:t>
            </a:r>
            <a:r>
              <a:rPr lang="zh-CN" altLang="en-US" sz="2000" b="1" dirty="0">
                <a:solidFill>
                  <a:schemeClr val="tx1"/>
                </a:solidFill>
                <a:latin typeface="Georgia" panose="02040502050405020303" pitchFamily="34" charset="0"/>
                <a:ea typeface="宋体" panose="02010600030101010101" pitchFamily="2" charset="-122"/>
                <a:cs typeface="Georgia" panose="02040502050405020303" pitchFamily="34" charset="-120"/>
                <a:sym typeface="+mn-ea"/>
              </a:rPr>
              <a:t>项目背景及需求介绍，关键里程碑介绍</a:t>
            </a:r>
            <a:endParaRPr lang="zh-CN" altLang="en-US" sz="2000" b="1" dirty="0">
              <a:solidFill>
                <a:schemeClr val="tx1"/>
              </a:solidFill>
              <a:latin typeface="Georgia" panose="02040502050405020303" pitchFamily="34" charset="0"/>
              <a:ea typeface="宋体" panose="02010600030101010101" pitchFamily="2" charset="-122"/>
              <a:cs typeface="Georgia" panose="02040502050405020303" pitchFamily="34" charset="-120"/>
            </a:endParaRPr>
          </a:p>
          <a:p>
            <a:pPr defTabSz="1219200">
              <a:lnSpc>
                <a:spcPts val="2935"/>
              </a:lnSpc>
            </a:pPr>
            <a:endParaRPr lang="zh-CN" altLang="en-US" sz="2000" b="1" dirty="0">
              <a:solidFill>
                <a:schemeClr val="tx1"/>
              </a:solidFill>
              <a:latin typeface="Georgia" panose="02040502050405020303" pitchFamily="34" charset="0"/>
              <a:ea typeface="宋体" panose="02010600030101010101" pitchFamily="2" charset="-122"/>
              <a:cs typeface="Georgia" panose="02040502050405020303" pitchFamily="34" charset="-120"/>
            </a:endParaRPr>
          </a:p>
        </p:txBody>
      </p:sp>
      <p:pic>
        <p:nvPicPr>
          <p:cNvPr id="2" name="图片 1" descr="未标题-1-03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-119062" y="3553301"/>
            <a:ext cx="1696879" cy="2548414"/>
          </a:xfrm>
          <a:prstGeom prst="rect">
            <a:avLst/>
          </a:prstGeom>
        </p:spPr>
      </p:pic>
      <p:pic>
        <p:nvPicPr>
          <p:cNvPr id="18" name="图片 17" descr="未标题-1-03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 flipH="1">
            <a:off x="7896701" y="-1265872"/>
            <a:ext cx="2222659" cy="3338513"/>
          </a:xfrm>
          <a:prstGeom prst="rect">
            <a:avLst/>
          </a:prstGeom>
          <a:effectLst>
            <a:softEdge rad="317500"/>
          </a:effectLst>
        </p:spPr>
      </p:pic>
      <p:sp>
        <p:nvSpPr>
          <p:cNvPr id="22" name="文本框 21"/>
          <p:cNvSpPr txBox="1"/>
          <p:nvPr/>
        </p:nvSpPr>
        <p:spPr>
          <a:xfrm>
            <a:off x="577850" y="1055370"/>
            <a:ext cx="9119235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/>
              <a:t>1</a:t>
            </a:r>
            <a:r>
              <a:rPr lang="zh-CN" altLang="en-US" sz="1600"/>
              <a:t>：本项目客户的需求明细与客户交互的状态。</a:t>
            </a:r>
            <a:endParaRPr lang="zh-CN" altLang="en-US" sz="1600"/>
          </a:p>
          <a:p>
            <a:endParaRPr lang="zh-CN" altLang="en-US" sz="1600"/>
          </a:p>
          <a:p>
            <a:r>
              <a:rPr lang="en-US" altLang="zh-CN" sz="1600"/>
              <a:t>2</a:t>
            </a:r>
            <a:r>
              <a:rPr lang="zh-CN" altLang="en-US" sz="1600"/>
              <a:t>：项目关键里程碑梳理，整体项目节奏及当前进展状态。</a:t>
            </a:r>
            <a:endParaRPr lang="zh-CN" sz="1600"/>
          </a:p>
          <a:p>
            <a:endParaRPr lang="zh-CN" sz="1600"/>
          </a:p>
          <a:p>
            <a:endParaRPr lang="zh-CN" altLang="en-US" sz="16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12785" y="4857115"/>
            <a:ext cx="9144000" cy="51435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428625" y="285750"/>
            <a:ext cx="8286750" cy="460772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zh-CN" altLang="en-US" sz="1350"/>
          </a:p>
        </p:txBody>
      </p:sp>
      <p:sp>
        <p:nvSpPr>
          <p:cNvPr id="5" name="Shape 1"/>
          <p:cNvSpPr/>
          <p:nvPr/>
        </p:nvSpPr>
        <p:spPr>
          <a:xfrm>
            <a:off x="428625" y="725092"/>
            <a:ext cx="8286750" cy="21431"/>
          </a:xfrm>
          <a:prstGeom prst="rect">
            <a:avLst/>
          </a:prstGeom>
          <a:solidFill>
            <a:srgbClr val="00A99D"/>
          </a:solidFill>
        </p:spPr>
        <p:txBody>
          <a:bodyPr/>
          <a:lstStyle/>
          <a:p>
            <a:endParaRPr lang="zh-CN" altLang="en-US" sz="1350"/>
          </a:p>
        </p:txBody>
      </p:sp>
      <p:sp>
        <p:nvSpPr>
          <p:cNvPr id="6" name="Text 2"/>
          <p:cNvSpPr/>
          <p:nvPr/>
        </p:nvSpPr>
        <p:spPr>
          <a:xfrm>
            <a:off x="428625" y="285750"/>
            <a:ext cx="5344160" cy="37592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l" defTabSz="1219200">
              <a:lnSpc>
                <a:spcPts val="2935"/>
              </a:lnSpc>
            </a:pPr>
            <a:r>
              <a:rPr lang="en-US" altLang="zh-CN" sz="2000" b="1" dirty="0" err="1">
                <a:solidFill>
                  <a:srgbClr val="003366"/>
                </a:solidFill>
                <a:latin typeface="Arial" panose="020B0604020202020204" pitchFamily="34" charset="0"/>
              </a:rPr>
              <a:t>4</a:t>
            </a:r>
            <a:r>
              <a:rPr lang="zh-CN" altLang="en-US" sz="2000" b="1" dirty="0" err="1">
                <a:solidFill>
                  <a:srgbClr val="003366"/>
                </a:solidFill>
                <a:latin typeface="Arial" panose="020B0604020202020204" pitchFamily="34" charset="0"/>
              </a:rPr>
              <a:t>：</a:t>
            </a:r>
            <a:r>
              <a:rPr lang="zh-CN" altLang="en-US" sz="2000" b="1" dirty="0">
                <a:solidFill>
                  <a:schemeClr val="tx1"/>
                </a:solidFill>
                <a:latin typeface="Georgia" panose="02040502050405020303" pitchFamily="34" charset="0"/>
                <a:ea typeface="宋体" panose="02010600030101010101" pitchFamily="2" charset="-122"/>
                <a:cs typeface="Georgia" panose="02040502050405020303" pitchFamily="34" charset="-120"/>
                <a:sym typeface="+mn-ea"/>
              </a:rPr>
              <a:t>项目进展和客户核心诉求</a:t>
            </a:r>
            <a:endParaRPr lang="zh-CN" altLang="en-US" sz="2000" b="1" dirty="0">
              <a:solidFill>
                <a:schemeClr val="tx1"/>
              </a:solidFill>
              <a:latin typeface="Georgia" panose="02040502050405020303" pitchFamily="34" charset="0"/>
              <a:ea typeface="宋体" panose="02010600030101010101" pitchFamily="2" charset="-122"/>
              <a:cs typeface="Georgia" panose="02040502050405020303" pitchFamily="34" charset="-120"/>
            </a:endParaRPr>
          </a:p>
        </p:txBody>
      </p:sp>
      <p:pic>
        <p:nvPicPr>
          <p:cNvPr id="2" name="图片 1" descr="未标题-1-03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-119062" y="3553301"/>
            <a:ext cx="1696879" cy="2548414"/>
          </a:xfrm>
          <a:prstGeom prst="rect">
            <a:avLst/>
          </a:prstGeom>
        </p:spPr>
      </p:pic>
      <p:pic>
        <p:nvPicPr>
          <p:cNvPr id="18" name="图片 17" descr="未标题-1-03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 flipH="1">
            <a:off x="7896701" y="-1265872"/>
            <a:ext cx="2222659" cy="3338513"/>
          </a:xfrm>
          <a:prstGeom prst="rect">
            <a:avLst/>
          </a:prstGeom>
          <a:effectLst>
            <a:softEdge rad="317500"/>
          </a:effectLst>
        </p:spPr>
      </p:pic>
      <p:sp>
        <p:nvSpPr>
          <p:cNvPr id="22" name="文本框 21"/>
          <p:cNvSpPr txBox="1"/>
          <p:nvPr/>
        </p:nvSpPr>
        <p:spPr>
          <a:xfrm>
            <a:off x="577850" y="1055370"/>
            <a:ext cx="911923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/>
              <a:t>1</a:t>
            </a:r>
            <a:r>
              <a:rPr lang="zh-CN" altLang="en-US" sz="1600"/>
              <a:t>：目前该项目基于前期客户沟通及梳理出来的关键信息</a:t>
            </a:r>
            <a:endParaRPr lang="zh-CN" altLang="en-US" sz="1600"/>
          </a:p>
          <a:p>
            <a:r>
              <a:rPr lang="zh-CN" altLang="en-US" sz="1600"/>
              <a:t>（交期诉求、预算、技术方案、核心决策因素、竞争情况）都要列出来</a:t>
            </a:r>
            <a:endParaRPr lang="zh-CN" altLang="en-US" sz="16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12785" y="4857115"/>
            <a:ext cx="9144000" cy="51435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428625" y="285750"/>
            <a:ext cx="8286750" cy="460772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zh-CN" altLang="en-US" sz="1350"/>
          </a:p>
        </p:txBody>
      </p:sp>
      <p:sp>
        <p:nvSpPr>
          <p:cNvPr id="5" name="Shape 1"/>
          <p:cNvSpPr/>
          <p:nvPr/>
        </p:nvSpPr>
        <p:spPr>
          <a:xfrm>
            <a:off x="428625" y="725092"/>
            <a:ext cx="8286750" cy="21431"/>
          </a:xfrm>
          <a:prstGeom prst="rect">
            <a:avLst/>
          </a:prstGeom>
          <a:solidFill>
            <a:srgbClr val="00A99D"/>
          </a:solidFill>
        </p:spPr>
        <p:txBody>
          <a:bodyPr/>
          <a:lstStyle/>
          <a:p>
            <a:endParaRPr lang="zh-CN" altLang="en-US" sz="1350"/>
          </a:p>
        </p:txBody>
      </p:sp>
      <p:sp>
        <p:nvSpPr>
          <p:cNvPr id="6" name="Text 2"/>
          <p:cNvSpPr/>
          <p:nvPr/>
        </p:nvSpPr>
        <p:spPr>
          <a:xfrm>
            <a:off x="428625" y="285750"/>
            <a:ext cx="5344160" cy="75247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l" defTabSz="1219200">
              <a:lnSpc>
                <a:spcPts val="2935"/>
              </a:lnSpc>
            </a:pPr>
            <a:r>
              <a:rPr lang="en-US" altLang="zh-CN" sz="2000" b="1" dirty="0" err="1">
                <a:solidFill>
                  <a:srgbClr val="003366"/>
                </a:solidFill>
                <a:latin typeface="Arial" panose="020B0604020202020204" pitchFamily="34" charset="0"/>
              </a:rPr>
              <a:t>5</a:t>
            </a:r>
            <a:r>
              <a:rPr lang="zh-CN" altLang="en-US" sz="2000" b="1" dirty="0" err="1">
                <a:solidFill>
                  <a:srgbClr val="003366"/>
                </a:solidFill>
                <a:latin typeface="Arial" panose="020B0604020202020204" pitchFamily="34" charset="0"/>
              </a:rPr>
              <a:t>：</a:t>
            </a:r>
            <a:r>
              <a:rPr lang="zh-CN" altLang="en-US" sz="2000" b="1" dirty="0">
                <a:solidFill>
                  <a:schemeClr val="tx1"/>
                </a:solidFill>
                <a:latin typeface="Georgia" panose="02040502050405020303" pitchFamily="34" charset="0"/>
                <a:ea typeface="宋体" panose="02010600030101010101" pitchFamily="2" charset="-122"/>
                <a:cs typeface="Georgia" panose="02040502050405020303" pitchFamily="34" charset="-120"/>
              </a:rPr>
              <a:t>待讨论项</a:t>
            </a:r>
            <a:r>
              <a:rPr lang="en-US" altLang="zh-CN" sz="2000" b="1" dirty="0">
                <a:solidFill>
                  <a:schemeClr val="tx1"/>
                </a:solidFill>
                <a:latin typeface="Georgia" panose="02040502050405020303" pitchFamily="34" charset="0"/>
                <a:ea typeface="宋体" panose="02010600030101010101" pitchFamily="2" charset="-122"/>
                <a:cs typeface="Georgia" panose="02040502050405020303" pitchFamily="34" charset="-120"/>
              </a:rPr>
              <a:t> &amp; </a:t>
            </a:r>
            <a:r>
              <a:rPr lang="zh-CN" altLang="en-US" sz="2000" b="1" dirty="0">
                <a:solidFill>
                  <a:schemeClr val="tx1"/>
                </a:solidFill>
                <a:latin typeface="Georgia" panose="02040502050405020303" pitchFamily="34" charset="0"/>
                <a:ea typeface="宋体" panose="02010600030101010101" pitchFamily="2" charset="-122"/>
                <a:cs typeface="Georgia" panose="02040502050405020303" pitchFamily="34" charset="-120"/>
              </a:rPr>
              <a:t>行动计划</a:t>
            </a:r>
            <a:r>
              <a:rPr lang="en-US" altLang="zh-CN" sz="2000" b="1" dirty="0">
                <a:solidFill>
                  <a:schemeClr val="tx1"/>
                </a:solidFill>
                <a:latin typeface="Georgia" panose="02040502050405020303" pitchFamily="34" charset="0"/>
                <a:ea typeface="宋体" panose="02010600030101010101" pitchFamily="2" charset="-122"/>
                <a:cs typeface="Georgia" panose="02040502050405020303" pitchFamily="34" charset="-120"/>
              </a:rPr>
              <a:t>&amp;</a:t>
            </a:r>
            <a:r>
              <a:rPr lang="zh-CN" altLang="en-US" sz="2000" b="1" dirty="0">
                <a:solidFill>
                  <a:schemeClr val="tx1"/>
                </a:solidFill>
                <a:latin typeface="Georgia" panose="02040502050405020303" pitchFamily="34" charset="0"/>
                <a:ea typeface="宋体" panose="02010600030101010101" pitchFamily="2" charset="-122"/>
                <a:cs typeface="Georgia" panose="02040502050405020303" pitchFamily="34" charset="-120"/>
              </a:rPr>
              <a:t>责任矩阵</a:t>
            </a:r>
            <a:endParaRPr lang="zh-CN" altLang="en-US" sz="2000" b="1" dirty="0">
              <a:solidFill>
                <a:schemeClr val="tx1"/>
              </a:solidFill>
              <a:latin typeface="Georgia" panose="02040502050405020303" pitchFamily="34" charset="0"/>
              <a:ea typeface="宋体" panose="02010600030101010101" pitchFamily="2" charset="-122"/>
              <a:cs typeface="Georgia" panose="02040502050405020303" pitchFamily="34" charset="-120"/>
            </a:endParaRPr>
          </a:p>
          <a:p>
            <a:pPr algn="l" defTabSz="1219200">
              <a:lnSpc>
                <a:spcPts val="2935"/>
              </a:lnSpc>
            </a:pPr>
            <a:endParaRPr lang="zh-CN" altLang="en-US" sz="2000" b="1" dirty="0">
              <a:solidFill>
                <a:schemeClr val="tx1"/>
              </a:solidFill>
              <a:latin typeface="Georgia" panose="02040502050405020303" pitchFamily="34" charset="0"/>
              <a:ea typeface="宋体" panose="02010600030101010101" pitchFamily="2" charset="-122"/>
              <a:cs typeface="Georgia" panose="02040502050405020303" pitchFamily="34" charset="-120"/>
            </a:endParaRPr>
          </a:p>
        </p:txBody>
      </p:sp>
      <p:pic>
        <p:nvPicPr>
          <p:cNvPr id="2" name="图片 1" descr="未标题-1-03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-119062" y="3553301"/>
            <a:ext cx="1696879" cy="2548414"/>
          </a:xfrm>
          <a:prstGeom prst="rect">
            <a:avLst/>
          </a:prstGeom>
        </p:spPr>
      </p:pic>
      <p:pic>
        <p:nvPicPr>
          <p:cNvPr id="18" name="图片 17" descr="未标题-1-03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 flipH="1">
            <a:off x="7896701" y="-1265872"/>
            <a:ext cx="2222659" cy="3338513"/>
          </a:xfrm>
          <a:prstGeom prst="rect">
            <a:avLst/>
          </a:prstGeom>
          <a:effectLst>
            <a:softEdge rad="317500"/>
          </a:effectLst>
        </p:spPr>
      </p:pic>
      <p:sp>
        <p:nvSpPr>
          <p:cNvPr id="22" name="文本框 21"/>
          <p:cNvSpPr txBox="1"/>
          <p:nvPr/>
        </p:nvSpPr>
        <p:spPr>
          <a:xfrm>
            <a:off x="577850" y="1055370"/>
            <a:ext cx="9119235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/>
              <a:t>1</a:t>
            </a:r>
            <a:r>
              <a:rPr lang="zh-CN" altLang="en-US" sz="1600"/>
              <a:t>：待讨论事项</a:t>
            </a:r>
            <a:r>
              <a:rPr lang="en-US" altLang="zh-CN" sz="1600"/>
              <a:t>  </a:t>
            </a:r>
            <a:r>
              <a:rPr lang="zh-CN" altLang="en-US" sz="1600"/>
              <a:t>明确量化</a:t>
            </a:r>
            <a:endParaRPr lang="zh-CN" altLang="en-US" sz="1600"/>
          </a:p>
          <a:p>
            <a:endParaRPr lang="zh-CN" altLang="en-US" sz="1600"/>
          </a:p>
          <a:p>
            <a:r>
              <a:rPr lang="en-US" altLang="zh-CN" sz="1600"/>
              <a:t>2</a:t>
            </a:r>
            <a:r>
              <a:rPr lang="zh-CN" altLang="en-US" sz="1600"/>
              <a:t>：行动计划</a:t>
            </a:r>
            <a:r>
              <a:rPr lang="en-US" altLang="zh-CN" sz="1600"/>
              <a:t> </a:t>
            </a:r>
            <a:r>
              <a:rPr lang="zh-CN" altLang="en-US" sz="1600"/>
              <a:t>支持项目成功还需要做哪些事情，明确量化</a:t>
            </a:r>
            <a:endParaRPr lang="zh-CN" altLang="en-US" sz="1600"/>
          </a:p>
          <a:p>
            <a:endParaRPr lang="zh-CN" altLang="en-US" sz="1600"/>
          </a:p>
          <a:p>
            <a:r>
              <a:rPr lang="en-US" altLang="zh-CN" sz="1600"/>
              <a:t>3</a:t>
            </a:r>
            <a:r>
              <a:rPr lang="zh-CN" altLang="en-US" sz="1600"/>
              <a:t>：基于项目成功还需要做哪些是，明确责任矩阵，明确责任人，完成时间。</a:t>
            </a:r>
            <a:endParaRPr lang="zh-CN" altLang="en-US" sz="160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DIAGRAM_VIRTUALLY_FRAME" val="{&quot;height&quot;:401.4756692913386,&quot;left&quot;:94.15,&quot;top&quot;:39.87433070866141,&quot;width&quot;:830.5}"/>
</p:tagLst>
</file>

<file path=ppt/tags/tag6.xml><?xml version="1.0" encoding="utf-8"?>
<p:tagLst xmlns:p="http://schemas.openxmlformats.org/presentationml/2006/main">
  <p:tag name="KSO_WM_DIAGRAM_VIRTUALLY_FRAME" val="{&quot;height&quot;:401.4756692913386,&quot;left&quot;:94.15,&quot;top&quot;:39.87433070866141,&quot;width&quot;:830.5}"/>
</p:tagLst>
</file>

<file path=ppt/tags/tag7.xml><?xml version="1.0" encoding="utf-8"?>
<p:tagLst xmlns:p="http://schemas.openxmlformats.org/presentationml/2006/main">
  <p:tag name="KSO_WM_DIAGRAM_VIRTUALLY_FRAME" val="{&quot;height&quot;:401.4756692913386,&quot;left&quot;:94.15,&quot;top&quot;:39.87433070866141,&quot;width&quot;:830.5}"/>
</p:tagLst>
</file>

<file path=ppt/tags/tag8.xml><?xml version="1.0" encoding="utf-8"?>
<p:tagLst xmlns:p="http://schemas.openxmlformats.org/presentationml/2006/main">
  <p:tag name="KSO_WM_DIAGRAM_VIRTUALLY_FRAME" val="{&quot;height&quot;:401.4756692913386,&quot;left&quot;:94.15,&quot;top&quot;:39.87433070866141,&quot;width&quot;:830.5}"/>
</p:tagLst>
</file>

<file path=ppt/tags/tag9.xml><?xml version="1.0" encoding="utf-8"?>
<p:tagLst xmlns:p="http://schemas.openxmlformats.org/presentationml/2006/main">
  <p:tag name="KSO_WM_DIAGRAM_VIRTUALLY_FRAME" val="{&quot;height&quot;:401.4756692913386,&quot;left&quot;:94.15,&quot;top&quot;:39.87433070866141,&quot;width&quot;:830.5}"/>
</p:tagLst>
</file>

<file path=ppt/tags/tag10.xml><?xml version="1.0" encoding="utf-8"?>
<p:tagLst xmlns:p="http://schemas.openxmlformats.org/presentationml/2006/main">
  <p:tag name="KSO_WM_BEAUTIFY_FLAG" val=""/>
</p:tagLst>
</file>

<file path=ppt/tags/tag11.xml><?xml version="1.0" encoding="utf-8"?>
<p:tagLst xmlns:p="http://schemas.openxmlformats.org/presentationml/2006/main">
  <p:tag name="KSO_WM_BEAUTIFY_FLAG" val=""/>
</p:tagLst>
</file>

<file path=ppt/tags/tag12.xml><?xml version="1.0" encoding="utf-8"?>
<p:tagLst xmlns:p="http://schemas.openxmlformats.org/presentationml/2006/main">
  <p:tag name="KSO_WM_BEAUTIFY_FLAG" val=""/>
</p:tagLst>
</file>

<file path=ppt/tags/tag13.xml><?xml version="1.0" encoding="utf-8"?>
<p:tagLst xmlns:p="http://schemas.openxmlformats.org/presentationml/2006/main">
  <p:tag name="KSO_WM_BEAUTIFY_FLAG" val=""/>
</p:tagLst>
</file>

<file path=ppt/tags/tag14.xml><?xml version="1.0" encoding="utf-8"?>
<p:tagLst xmlns:p="http://schemas.openxmlformats.org/presentationml/2006/main">
  <p:tag name="KSO_WM_BEAUTIFY_FLAG" val=""/>
</p:tagLst>
</file>

<file path=ppt/tags/tag15.xml><?xml version="1.0" encoding="utf-8"?>
<p:tagLst xmlns:p="http://schemas.openxmlformats.org/presentationml/2006/main">
  <p:tag name="KSO_WM_BEAUTIFY_FLAG" val=""/>
</p:tagLst>
</file>

<file path=ppt/tags/tag16.xml><?xml version="1.0" encoding="utf-8"?>
<p:tagLst xmlns:p="http://schemas.openxmlformats.org/presentationml/2006/main">
  <p:tag name="KSO_WM_BEAUTIFY_FLAG" val=""/>
</p:tagLst>
</file>

<file path=ppt/tags/tag17.xml><?xml version="1.0" encoding="utf-8"?>
<p:tagLst xmlns:p="http://schemas.openxmlformats.org/presentationml/2006/main">
  <p:tag name="KSO_WM_BEAUTIFY_FLAG" val=""/>
</p:tagLst>
</file>

<file path=ppt/tags/tag18.xml><?xml version="1.0" encoding="utf-8"?>
<p:tagLst xmlns:p="http://schemas.openxmlformats.org/presentationml/2006/main">
  <p:tag name="KSO_WM_BEAUTIFY_FLAG" val=""/>
</p:tagLst>
</file>

<file path=ppt/tags/tag19.xml><?xml version="1.0" encoding="utf-8"?>
<p:tagLst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1189</Words>
  <Application>WPS 演示</Application>
  <PresentationFormat>On-screen Show (16:9)</PresentationFormat>
  <Paragraphs>205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20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31" baseType="lpstr">
      <vt:lpstr>Arial</vt:lpstr>
      <vt:lpstr>宋体</vt:lpstr>
      <vt:lpstr>Wingdings</vt:lpstr>
      <vt:lpstr>Georgia</vt:lpstr>
      <vt:lpstr>Georgia</vt:lpstr>
      <vt:lpstr>Georgia</vt:lpstr>
      <vt:lpstr>Calibri</vt:lpstr>
      <vt:lpstr>Calibri</vt:lpstr>
      <vt:lpstr>Calibri</vt:lpstr>
      <vt:lpstr>Arial</vt:lpstr>
      <vt:lpstr>Arial</vt:lpstr>
      <vt:lpstr>微软雅黑</vt:lpstr>
      <vt:lpstr>Arial Unicode MS</vt:lpstr>
      <vt:lpstr>等线</vt:lpstr>
      <vt:lpstr>Microsoft YaHei UI</vt:lpstr>
      <vt:lpstr>Jost</vt:lpstr>
      <vt:lpstr>Calibri</vt:lpstr>
      <vt:lpstr>Jost Medium</vt:lpstr>
      <vt:lpstr>Calibri Light</vt:lpstr>
      <vt:lpstr>等线 Light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AE-HPC 客户项目讨论材料</dc:title>
  <dc:creator>Router Switch Limited</dc:creator>
  <dc:subject>PptxGenJS Presentation</dc:subject>
  <cp:lastModifiedBy>陈正</cp:lastModifiedBy>
  <cp:revision>9</cp:revision>
  <dcterms:created xsi:type="dcterms:W3CDTF">2026-02-02T04:28:00Z</dcterms:created>
  <dcterms:modified xsi:type="dcterms:W3CDTF">2026-03-04T01:39:03Z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BA498FD1C96F4463A18A99F1C53492F7_13</vt:lpwstr>
  </property>
</Properties>
</file>